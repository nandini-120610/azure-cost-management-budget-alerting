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8" r:id="rId5"/>
    <p:sldId id="260" r:id="rId6"/>
    <p:sldId id="261" r:id="rId7"/>
    <p:sldId id="262" r:id="rId8"/>
    <p:sldId id="263" r:id="rId9"/>
    <p:sldId id="264" r:id="rId10"/>
    <p:sldId id="265" r:id="rId11"/>
    <p:sldId id="271" r:id="rId19"/>
    <p:sldId id="272" r:id="rId20"/>
    <p:sldId id="266" r:id="rId12"/>
    <p:sldId id="269"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0" autoAdjust="0"/>
    <p:restoredTop sz="94660"/>
  </p:normalViewPr>
  <p:slideViewPr>
    <p:cSldViewPr snapToGrid="0" snapToObjects="1">
      <p:cViewPr>
        <p:scale>
          <a:sx n="90" d="100"/>
          <a:sy n="90" d="100"/>
        </p:scale>
        <p:origin x="307" y="-19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4.xml"/><Relationship Id="rId20"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594360"/>
            <a:ext cx="9875520" cy="320040"/>
          </a:xfrm>
          <a:prstGeom prst="rect">
            <a:avLst/>
          </a:prstGeom>
          <a:noFill/>
        </p:spPr>
        <p:txBody>
          <a:bodyPr wrap="none">
            <a:spAutoFit/>
          </a:bodyPr>
          <a:lstStyle/>
          <a:p>
            <a:pPr>
              <a:defRPr sz="1100" b="1">
                <a:solidFill>
                  <a:srgbClr val="2C7E9D"/>
                </a:solidFill>
              </a:defRPr>
            </a:pPr>
            <a:r>
              <a:t>CLOUD COMPUTING · MINI PROJECT</a:t>
            </a:r>
          </a:p>
        </p:txBody>
      </p:sp>
      <p:sp>
        <p:nvSpPr>
          <p:cNvPr id="3" name="TextBox 2"/>
          <p:cNvSpPr txBox="1"/>
          <p:nvPr/>
        </p:nvSpPr>
        <p:spPr>
          <a:xfrm>
            <a:off x="685800" y="1097280"/>
            <a:ext cx="10698480" cy="1234440"/>
          </a:xfrm>
          <a:prstGeom prst="rect">
            <a:avLst/>
          </a:prstGeom>
          <a:noFill/>
        </p:spPr>
        <p:txBody>
          <a:bodyPr wrap="none">
            <a:spAutoFit/>
          </a:bodyPr>
          <a:lstStyle/>
          <a:p>
            <a:pPr>
              <a:defRPr sz="3100" b="1">
                <a:solidFill>
                  <a:srgbClr val="1F2A32"/>
                </a:solidFill>
              </a:defRPr>
            </a:pPr>
            <a:r>
              <a:t>Azure Cost Management</a:t>
            </a:r>
            <a:br/>
            <a:r>
              <a:t>Budget &amp; Anomaly Alerting</a:t>
            </a:r>
          </a:p>
        </p:txBody>
      </p:sp>
      <p:sp>
        <p:nvSpPr>
          <p:cNvPr id="4" name="TextBox 3"/>
          <p:cNvSpPr txBox="1"/>
          <p:nvPr/>
        </p:nvSpPr>
        <p:spPr>
          <a:xfrm>
            <a:off x="713232" y="2487168"/>
            <a:ext cx="9875520" cy="685800"/>
          </a:xfrm>
          <a:prstGeom prst="rect">
            <a:avLst/>
          </a:prstGeom>
          <a:noFill/>
        </p:spPr>
        <p:txBody>
          <a:bodyPr wrap="none">
            <a:spAutoFit/>
          </a:bodyPr>
          <a:lstStyle/>
          <a:p>
            <a:pPr>
              <a:defRPr sz="1600">
                <a:solidFill>
                  <a:srgbClr val="52606B"/>
                </a:solidFill>
              </a:defRPr>
            </a:pPr>
            <a:r>
              <a:t>Control cloud spending with budgets, cost analysis, ownership tags, and alerts that highlight unusual spending.</a:t>
            </a:r>
          </a:p>
        </p:txBody>
      </p:sp>
      <p:sp>
        <p:nvSpPr>
          <p:cNvPr id="5" name="Rounded Rectangle 4"/>
          <p:cNvSpPr/>
          <p:nvPr/>
        </p:nvSpPr>
        <p:spPr>
          <a:xfrm>
            <a:off x="731520" y="3794760"/>
            <a:ext cx="3337560" cy="132588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3794760"/>
            <a:ext cx="64008" cy="1325880"/>
          </a:xfrm>
          <a:prstGeom prst="rect">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3959352"/>
            <a:ext cx="2971800" cy="384048"/>
          </a:xfrm>
          <a:prstGeom prst="rect">
            <a:avLst/>
          </a:prstGeom>
          <a:noFill/>
        </p:spPr>
        <p:txBody>
          <a:bodyPr wrap="none">
            <a:spAutoFit/>
          </a:bodyPr>
          <a:lstStyle/>
          <a:p>
            <a:pPr>
              <a:defRPr sz="1500" b="1">
                <a:solidFill>
                  <a:srgbClr val="1F2A32"/>
                </a:solidFill>
              </a:defRPr>
            </a:pPr>
            <a:r>
              <a:t>USE CASE 01</a:t>
            </a:r>
          </a:p>
        </p:txBody>
      </p:sp>
      <p:sp>
        <p:nvSpPr>
          <p:cNvPr id="8" name="TextBox 7"/>
          <p:cNvSpPr txBox="1"/>
          <p:nvPr/>
        </p:nvSpPr>
        <p:spPr>
          <a:xfrm>
            <a:off x="932688" y="4416552"/>
            <a:ext cx="2953512" cy="548640"/>
          </a:xfrm>
          <a:prstGeom prst="rect">
            <a:avLst/>
          </a:prstGeom>
          <a:noFill/>
        </p:spPr>
        <p:txBody>
          <a:bodyPr wrap="square">
            <a:spAutoFit/>
          </a:bodyPr>
          <a:lstStyle/>
          <a:p>
            <a:pPr>
              <a:defRPr sz="1150">
                <a:solidFill>
                  <a:srgbClr val="52606B"/>
                </a:solidFill>
              </a:defRPr>
            </a:pPr>
            <a:r>
              <a:t>Alert department owners when spending approaches or exceeds the approved budget.</a:t>
            </a:r>
          </a:p>
        </p:txBody>
      </p:sp>
      <p:sp>
        <p:nvSpPr>
          <p:cNvPr id="9" name="Rounded Rectangle 8"/>
          <p:cNvSpPr/>
          <p:nvPr/>
        </p:nvSpPr>
        <p:spPr>
          <a:xfrm>
            <a:off x="4434840" y="3794760"/>
            <a:ext cx="3337560" cy="132588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3794760"/>
            <a:ext cx="64008" cy="1325880"/>
          </a:xfrm>
          <a:prstGeom prst="rect">
            <a:avLst/>
          </a:prstGeom>
          <a:solidFill>
            <a:srgbClr val="408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36007" y="3959352"/>
            <a:ext cx="2971800" cy="384048"/>
          </a:xfrm>
          <a:prstGeom prst="rect">
            <a:avLst/>
          </a:prstGeom>
          <a:noFill/>
        </p:spPr>
        <p:txBody>
          <a:bodyPr wrap="none">
            <a:spAutoFit/>
          </a:bodyPr>
          <a:lstStyle/>
          <a:p>
            <a:pPr>
              <a:defRPr sz="1500" b="1">
                <a:solidFill>
                  <a:srgbClr val="1F2A32"/>
                </a:solidFill>
              </a:defRPr>
            </a:pPr>
            <a:r>
              <a:t>USE CASE 02</a:t>
            </a:r>
          </a:p>
        </p:txBody>
      </p:sp>
      <p:sp>
        <p:nvSpPr>
          <p:cNvPr id="12" name="TextBox 11"/>
          <p:cNvSpPr txBox="1"/>
          <p:nvPr/>
        </p:nvSpPr>
        <p:spPr>
          <a:xfrm>
            <a:off x="4636007" y="4416552"/>
            <a:ext cx="2953512" cy="548640"/>
          </a:xfrm>
          <a:prstGeom prst="rect">
            <a:avLst/>
          </a:prstGeom>
          <a:noFill/>
        </p:spPr>
        <p:txBody>
          <a:bodyPr wrap="square">
            <a:spAutoFit/>
          </a:bodyPr>
          <a:lstStyle/>
          <a:p>
            <a:pPr>
              <a:defRPr sz="1150">
                <a:solidFill>
                  <a:srgbClr val="52606B"/>
                </a:solidFill>
              </a:defRPr>
            </a:pPr>
            <a:r>
              <a:t>Identify the top five monthly cost drivers and investigate unusual changes.</a:t>
            </a:r>
          </a:p>
        </p:txBody>
      </p:sp>
      <p:sp>
        <p:nvSpPr>
          <p:cNvPr id="13" name="Rounded Rectangle 12"/>
          <p:cNvSpPr/>
          <p:nvPr/>
        </p:nvSpPr>
        <p:spPr>
          <a:xfrm>
            <a:off x="8138160" y="3794760"/>
            <a:ext cx="3337560" cy="132588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38160" y="3794760"/>
            <a:ext cx="64008" cy="1325880"/>
          </a:xfrm>
          <a:prstGeom prst="rect">
            <a:avLst/>
          </a:prstGeom>
          <a:solidFill>
            <a:srgbClr val="CD8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39328" y="3959352"/>
            <a:ext cx="2971800" cy="384048"/>
          </a:xfrm>
          <a:prstGeom prst="rect">
            <a:avLst/>
          </a:prstGeom>
          <a:noFill/>
        </p:spPr>
        <p:txBody>
          <a:bodyPr wrap="none">
            <a:spAutoFit/>
          </a:bodyPr>
          <a:lstStyle/>
          <a:p>
            <a:pPr>
              <a:defRPr sz="1500" b="1">
                <a:solidFill>
                  <a:srgbClr val="1F2A32"/>
                </a:solidFill>
              </a:defRPr>
            </a:pPr>
            <a:r>
              <a:t>STUDENT SCOPE</a:t>
            </a:r>
          </a:p>
        </p:txBody>
      </p:sp>
      <p:sp>
        <p:nvSpPr>
          <p:cNvPr id="16" name="TextBox 15"/>
          <p:cNvSpPr txBox="1"/>
          <p:nvPr/>
        </p:nvSpPr>
        <p:spPr>
          <a:xfrm>
            <a:off x="8339328" y="4416552"/>
            <a:ext cx="2953512" cy="548640"/>
          </a:xfrm>
          <a:prstGeom prst="rect">
            <a:avLst/>
          </a:prstGeom>
          <a:noFill/>
        </p:spPr>
        <p:txBody>
          <a:bodyPr wrap="square">
            <a:spAutoFit/>
          </a:bodyPr>
          <a:lstStyle/>
          <a:p>
            <a:pPr>
              <a:defRPr sz="1150">
                <a:solidFill>
                  <a:srgbClr val="52606B"/>
                </a:solidFill>
              </a:defRPr>
            </a:pPr>
            <a:r>
              <a:t>Use Azure Cost Management with student credits and avoid unnecessary paid resources.</a:t>
            </a:r>
          </a:p>
        </p:txBody>
      </p:sp>
      <p:sp>
        <p:nvSpPr>
          <p:cNvPr id="17" name="TextBox 16"/>
          <p:cNvSpPr txBox="1"/>
          <p:nvPr/>
        </p:nvSpPr>
        <p:spPr>
          <a:xfrm>
            <a:off x="763524" y="5742432"/>
            <a:ext cx="2097049" cy="938719"/>
          </a:xfrm>
          <a:prstGeom prst="rect">
            <a:avLst/>
          </a:prstGeom>
          <a:noFill/>
        </p:spPr>
        <p:txBody>
          <a:bodyPr wrap="none">
            <a:spAutoFit/>
          </a:bodyPr>
          <a:lstStyle/>
          <a:p>
            <a:pPr>
              <a:defRPr sz="1100">
                <a:solidFill>
                  <a:srgbClr val="52606B"/>
                </a:solidFill>
              </a:defRPr>
            </a:pPr>
            <a:r>
              <a:rPr lang="en-US" dirty="0"/>
              <a:t>Team Members:</a:t>
            </a:r>
            <a:br>
              <a:rPr lang="en-US" dirty="0"/>
            </a:br>
            <a:r>
              <a:rPr lang="en-US" dirty="0" err="1"/>
              <a:t>T.Naga</a:t>
            </a:r>
            <a:r>
              <a:rPr lang="en-US" dirty="0"/>
              <a:t> Bala Nandini-2400031197</a:t>
            </a:r>
            <a:br>
              <a:rPr lang="en-US" dirty="0"/>
            </a:br>
            <a:r>
              <a:rPr lang="en-US" dirty="0" err="1"/>
              <a:t>Sk.Kalesha</a:t>
            </a:r>
            <a:r>
              <a:rPr lang="en-US" dirty="0"/>
              <a:t> vali-2400031180</a:t>
            </a:r>
          </a:p>
          <a:p>
            <a:pPr>
              <a:defRPr sz="1100">
                <a:solidFill>
                  <a:srgbClr val="52606B"/>
                </a:solidFill>
              </a:defRPr>
            </a:pPr>
            <a:r>
              <a:rPr lang="en-US" dirty="0" err="1"/>
              <a:t>A.Kuladeep</a:t>
            </a:r>
            <a:r>
              <a:rPr lang="en-US" dirty="0"/>
              <a:t> reddy-2400031192</a:t>
            </a:r>
          </a:p>
          <a:p>
            <a:pPr>
              <a:defRPr sz="1100">
                <a:solidFill>
                  <a:srgbClr val="52606B"/>
                </a:solidFill>
              </a:defRPr>
            </a:pPr>
            <a:r>
              <a:rPr lang="en-US" dirty="0" err="1"/>
              <a:t>K.Eswar</a:t>
            </a:r>
            <a:r>
              <a:rPr lang="en-US" dirty="0"/>
              <a:t> naga sai-2400031152</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5943600" cy="274320"/>
          </a:xfrm>
          <a:prstGeom prst="rect">
            <a:avLst/>
          </a:prstGeom>
          <a:noFill/>
        </p:spPr>
        <p:txBody>
          <a:bodyPr wrap="none">
            <a:spAutoFit/>
          </a:bodyPr>
          <a:lstStyle/>
          <a:p>
            <a:pPr>
              <a:defRPr sz="1000" b="1">
                <a:solidFill>
                  <a:srgbClr val="2C7E9D"/>
                </a:solidFill>
              </a:defRPr>
            </a:pPr>
            <a:r>
              <a:t>PROBLEM STATEMENT</a:t>
            </a:r>
          </a:p>
        </p:txBody>
      </p:sp>
      <p:sp>
        <p:nvSpPr>
          <p:cNvPr id="3" name="TextBox 2"/>
          <p:cNvSpPr txBox="1"/>
          <p:nvPr/>
        </p:nvSpPr>
        <p:spPr>
          <a:xfrm>
            <a:off x="640080" y="658368"/>
            <a:ext cx="10789920" cy="685800"/>
          </a:xfrm>
          <a:prstGeom prst="rect">
            <a:avLst/>
          </a:prstGeom>
          <a:noFill/>
        </p:spPr>
        <p:txBody>
          <a:bodyPr wrap="none">
            <a:spAutoFit/>
          </a:bodyPr>
          <a:lstStyle/>
          <a:p>
            <a:pPr>
              <a:defRPr sz="2900" b="1">
                <a:solidFill>
                  <a:srgbClr val="1F2A32"/>
                </a:solidFill>
              </a:defRPr>
            </a:pPr>
            <a:r>
              <a:t>Cloud spend can grow before anyone notices</a:t>
            </a:r>
          </a:p>
        </p:txBody>
      </p:sp>
      <p:sp>
        <p:nvSpPr>
          <p:cNvPr id="4" name="Rounded Rectangle 3"/>
          <p:cNvSpPr/>
          <p:nvPr/>
        </p:nvSpPr>
        <p:spPr>
          <a:xfrm>
            <a:off x="685800" y="1783080"/>
            <a:ext cx="3429000" cy="182880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783080"/>
            <a:ext cx="64008" cy="1828800"/>
          </a:xfrm>
          <a:prstGeom prst="rect">
            <a:avLst/>
          </a:prstGeom>
          <a:solidFill>
            <a:srgbClr val="B0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947672"/>
            <a:ext cx="3063240" cy="384048"/>
          </a:xfrm>
          <a:prstGeom prst="rect">
            <a:avLst/>
          </a:prstGeom>
          <a:noFill/>
        </p:spPr>
        <p:txBody>
          <a:bodyPr wrap="none">
            <a:spAutoFit/>
          </a:bodyPr>
          <a:lstStyle/>
          <a:p>
            <a:pPr>
              <a:defRPr sz="1500" b="1">
                <a:solidFill>
                  <a:srgbClr val="1F2A32"/>
                </a:solidFill>
              </a:defRPr>
            </a:pPr>
            <a:r>
              <a:t>Budget visibility</a:t>
            </a:r>
          </a:p>
        </p:txBody>
      </p:sp>
      <p:sp>
        <p:nvSpPr>
          <p:cNvPr id="7" name="TextBox 6"/>
          <p:cNvSpPr txBox="1"/>
          <p:nvPr/>
        </p:nvSpPr>
        <p:spPr>
          <a:xfrm>
            <a:off x="886968" y="2404872"/>
            <a:ext cx="3044952" cy="1051560"/>
          </a:xfrm>
          <a:prstGeom prst="rect">
            <a:avLst/>
          </a:prstGeom>
          <a:noFill/>
        </p:spPr>
        <p:txBody>
          <a:bodyPr wrap="square">
            <a:spAutoFit/>
          </a:bodyPr>
          <a:lstStyle/>
          <a:p>
            <a:pPr>
              <a:defRPr sz="1150">
                <a:solidFill>
                  <a:srgbClr val="52606B"/>
                </a:solidFill>
              </a:defRPr>
            </a:pPr>
            <a:r>
              <a:t>Without a defined budget and threshold alerts, teams may discover overspending only after the cost has already accumulated.</a:t>
            </a:r>
          </a:p>
        </p:txBody>
      </p:sp>
      <p:sp>
        <p:nvSpPr>
          <p:cNvPr id="8" name="Rounded Rectangle 7"/>
          <p:cNvSpPr/>
          <p:nvPr/>
        </p:nvSpPr>
        <p:spPr>
          <a:xfrm>
            <a:off x="4389120" y="1783080"/>
            <a:ext cx="3429000" cy="182880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89120" y="1783080"/>
            <a:ext cx="64008" cy="1828800"/>
          </a:xfrm>
          <a:prstGeom prst="rect">
            <a:avLst/>
          </a:prstGeom>
          <a:solidFill>
            <a:srgbClr val="CD8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90288" y="1947672"/>
            <a:ext cx="3063240" cy="384048"/>
          </a:xfrm>
          <a:prstGeom prst="rect">
            <a:avLst/>
          </a:prstGeom>
          <a:noFill/>
        </p:spPr>
        <p:txBody>
          <a:bodyPr wrap="none">
            <a:spAutoFit/>
          </a:bodyPr>
          <a:lstStyle/>
          <a:p>
            <a:pPr>
              <a:defRPr sz="1500" b="1">
                <a:solidFill>
                  <a:srgbClr val="1F2A32"/>
                </a:solidFill>
              </a:defRPr>
            </a:pPr>
            <a:r>
              <a:t>Unclear ownership</a:t>
            </a:r>
          </a:p>
        </p:txBody>
      </p:sp>
      <p:sp>
        <p:nvSpPr>
          <p:cNvPr id="11" name="TextBox 10"/>
          <p:cNvSpPr txBox="1"/>
          <p:nvPr/>
        </p:nvSpPr>
        <p:spPr>
          <a:xfrm>
            <a:off x="4590288" y="2404872"/>
            <a:ext cx="3044952" cy="1051560"/>
          </a:xfrm>
          <a:prstGeom prst="rect">
            <a:avLst/>
          </a:prstGeom>
          <a:noFill/>
        </p:spPr>
        <p:txBody>
          <a:bodyPr wrap="square">
            <a:spAutoFit/>
          </a:bodyPr>
          <a:lstStyle/>
          <a:p>
            <a:pPr>
              <a:defRPr sz="1150">
                <a:solidFill>
                  <a:srgbClr val="52606B"/>
                </a:solidFill>
              </a:defRPr>
            </a:pPr>
            <a:r>
              <a:t>Untagged resources make it difficult to map costs to a department, team, project or owner for chargeback.</a:t>
            </a:r>
          </a:p>
        </p:txBody>
      </p:sp>
      <p:sp>
        <p:nvSpPr>
          <p:cNvPr id="12" name="Rounded Rectangle 11"/>
          <p:cNvSpPr/>
          <p:nvPr/>
        </p:nvSpPr>
        <p:spPr>
          <a:xfrm>
            <a:off x="8092440" y="1783080"/>
            <a:ext cx="3429000" cy="182880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92440" y="1783080"/>
            <a:ext cx="64008" cy="1828800"/>
          </a:xfrm>
          <a:prstGeom prst="rect">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93608" y="1947672"/>
            <a:ext cx="3063240" cy="384048"/>
          </a:xfrm>
          <a:prstGeom prst="rect">
            <a:avLst/>
          </a:prstGeom>
          <a:noFill/>
        </p:spPr>
        <p:txBody>
          <a:bodyPr wrap="none">
            <a:spAutoFit/>
          </a:bodyPr>
          <a:lstStyle/>
          <a:p>
            <a:pPr>
              <a:defRPr sz="1500" b="1">
                <a:solidFill>
                  <a:srgbClr val="1F2A32"/>
                </a:solidFill>
              </a:defRPr>
            </a:pPr>
            <a:r>
              <a:t>Unexpected spikes</a:t>
            </a:r>
          </a:p>
        </p:txBody>
      </p:sp>
      <p:sp>
        <p:nvSpPr>
          <p:cNvPr id="15" name="TextBox 14"/>
          <p:cNvSpPr txBox="1"/>
          <p:nvPr/>
        </p:nvSpPr>
        <p:spPr>
          <a:xfrm>
            <a:off x="8293608" y="2404872"/>
            <a:ext cx="3044952" cy="1051560"/>
          </a:xfrm>
          <a:prstGeom prst="rect">
            <a:avLst/>
          </a:prstGeom>
          <a:noFill/>
        </p:spPr>
        <p:txBody>
          <a:bodyPr wrap="square">
            <a:spAutoFit/>
          </a:bodyPr>
          <a:lstStyle/>
          <a:p>
            <a:pPr>
              <a:defRPr sz="1150">
                <a:solidFill>
                  <a:srgbClr val="52606B"/>
                </a:solidFill>
              </a:defRPr>
            </a:pPr>
            <a:r>
              <a:t>A VM, database, storage account or data transfer pattern can create a sudden increase that looks unusual compared with normal usage.</a:t>
            </a:r>
          </a:p>
        </p:txBody>
      </p:sp>
      <p:sp>
        <p:nvSpPr>
          <p:cNvPr id="16" name="TextBox 15"/>
          <p:cNvSpPr txBox="1"/>
          <p:nvPr/>
        </p:nvSpPr>
        <p:spPr>
          <a:xfrm>
            <a:off x="777240" y="4160520"/>
            <a:ext cx="10332720" cy="1143000"/>
          </a:xfrm>
          <a:prstGeom prst="rect">
            <a:avLst/>
          </a:prstGeom>
          <a:noFill/>
        </p:spPr>
        <p:txBody>
          <a:bodyPr wrap="none">
            <a:spAutoFit/>
          </a:bodyPr>
          <a:lstStyle/>
          <a:p>
            <a:pPr>
              <a:defRPr sz="1800" b="1">
                <a:solidFill>
                  <a:srgbClr val="1F2A32"/>
                </a:solidFill>
              </a:defRPr>
            </a:pPr>
            <a:r>
              <a:t>Bottlenecks students may encounter</a:t>
            </a:r>
          </a:p>
          <a:p>
            <a:pPr>
              <a:spcAft>
                <a:spcPts val="500"/>
              </a:spcAft>
              <a:defRPr sz="1300">
                <a:solidFill>
                  <a:srgbClr val="52606B"/>
                </a:solidFill>
              </a:defRPr>
            </a:pPr>
            <a:r>
              <a:t>• Alerts can arrive after spend has already occurred.</a:t>
            </a:r>
          </a:p>
          <a:p>
            <a:pPr>
              <a:spcAft>
                <a:spcPts val="500"/>
              </a:spcAft>
              <a:defRPr sz="1300">
                <a:solidFill>
                  <a:srgbClr val="52606B"/>
                </a:solidFill>
              </a:defRPr>
            </a:pPr>
            <a:r>
              <a:t>• Missing tags make cost allocation incomplete.</a:t>
            </a:r>
          </a:p>
          <a:p>
            <a:pPr>
              <a:spcAft>
                <a:spcPts val="500"/>
              </a:spcAft>
              <a:defRPr sz="1300">
                <a:solidFill>
                  <a:srgbClr val="52606B"/>
                </a:solidFill>
              </a:defRPr>
            </a:pPr>
            <a:r>
              <a:t>• Student credits are limited, so testing must avoid unnecessary resources.</a:t>
            </a:r>
          </a:p>
        </p:txBody>
      </p:sp>
      <p:sp>
        <p:nvSpPr>
          <p:cNvPr id="17" name="TextBox 16"/>
          <p:cNvSpPr txBox="1"/>
          <p:nvPr/>
        </p:nvSpPr>
        <p:spPr>
          <a:xfrm>
            <a:off x="11567160" y="6446520"/>
            <a:ext cx="365760" cy="228600"/>
          </a:xfrm>
          <a:prstGeom prst="rect">
            <a:avLst/>
          </a:prstGeom>
          <a:noFill/>
        </p:spPr>
        <p:txBody>
          <a:bodyPr wrap="none">
            <a:spAutoFit/>
          </a:bodyPr>
          <a:lstStyle/>
          <a:p>
            <a:pPr algn="r">
              <a:defRPr sz="900">
                <a:solidFill>
                  <a:srgbClr val="52606B"/>
                </a:solidFill>
              </a:defRPr>
            </a:pPr>
            <a:r>
              <a:t>03</a:t>
            </a:r>
          </a:p>
        </p:txBody>
      </p:sp>
      <p:sp>
        <p:nvSpPr>
          <p:cNvPr id="18" name="Rectangle 17"/>
          <p:cNvSpPr/>
          <p:nvPr/>
        </p:nvSpPr>
        <p:spPr>
          <a:xfrm>
            <a:off x="640080" y="6199632"/>
            <a:ext cx="10927080" cy="13716"/>
          </a:xfrm>
          <a:prstGeom prst="rect">
            <a:avLst/>
          </a:prstGeom>
          <a:solidFill>
            <a:srgbClr val="DAE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5943600" cy="274320"/>
          </a:xfrm>
          <a:prstGeom prst="rect">
            <a:avLst/>
          </a:prstGeom>
          <a:noFill/>
        </p:spPr>
        <p:txBody>
          <a:bodyPr wrap="none">
            <a:spAutoFit/>
          </a:bodyPr>
          <a:lstStyle/>
          <a:p>
            <a:pPr>
              <a:defRPr sz="1000" b="1">
                <a:solidFill>
                  <a:srgbClr val="2C7E9D"/>
                </a:solidFill>
              </a:defRPr>
            </a:pPr>
            <a:r>
              <a:t>INTRODUCTION</a:t>
            </a:r>
          </a:p>
        </p:txBody>
      </p:sp>
      <p:sp>
        <p:nvSpPr>
          <p:cNvPr id="3" name="TextBox 2"/>
          <p:cNvSpPr txBox="1"/>
          <p:nvPr/>
        </p:nvSpPr>
        <p:spPr>
          <a:xfrm>
            <a:off x="640080" y="658368"/>
            <a:ext cx="10789920" cy="685800"/>
          </a:xfrm>
          <a:prstGeom prst="rect">
            <a:avLst/>
          </a:prstGeom>
          <a:noFill/>
        </p:spPr>
        <p:txBody>
          <a:bodyPr wrap="none">
            <a:spAutoFit/>
          </a:bodyPr>
          <a:lstStyle/>
          <a:p>
            <a:pPr>
              <a:defRPr sz="2900" b="1">
                <a:solidFill>
                  <a:srgbClr val="1F2A32"/>
                </a:solidFill>
              </a:defRPr>
            </a:pPr>
            <a:r>
              <a:t>What Azure Cost Management does</a:t>
            </a:r>
          </a:p>
        </p:txBody>
      </p:sp>
      <p:sp>
        <p:nvSpPr>
          <p:cNvPr id="4" name="TextBox 3"/>
          <p:cNvSpPr txBox="1"/>
          <p:nvPr/>
        </p:nvSpPr>
        <p:spPr>
          <a:xfrm>
            <a:off x="777240" y="1783080"/>
            <a:ext cx="6583680" cy="3383280"/>
          </a:xfrm>
          <a:prstGeom prst="rect">
            <a:avLst/>
          </a:prstGeom>
          <a:noFill/>
        </p:spPr>
        <p:txBody>
          <a:bodyPr wrap="square" lIns="0" tIns="0" rIns="0">
            <a:spAutoFit/>
          </a:bodyPr>
          <a:lstStyle/>
          <a:p>
            <a:pPr>
              <a:spcAft>
                <a:spcPts val="900"/>
              </a:spcAft>
              <a:defRPr sz="1500">
                <a:solidFill>
                  <a:srgbClr val="1F2A32"/>
                </a:solidFill>
              </a:defRPr>
            </a:pPr>
            <a:r>
              <a:t>• Azure Cost Management helps users understand where cloud money is being spent and provides tools for budgets, cost analysis and alerts.</a:t>
            </a:r>
          </a:p>
          <a:p>
            <a:pPr>
              <a:spcAft>
                <a:spcPts val="900"/>
              </a:spcAft>
              <a:defRPr sz="1500">
                <a:solidFill>
                  <a:srgbClr val="1F2A32"/>
                </a:solidFill>
              </a:defRPr>
            </a:pPr>
            <a:r>
              <a:t>• Budgets define an expected spending limit and can trigger notifications when configured thresholds are reached.</a:t>
            </a:r>
          </a:p>
          <a:p>
            <a:pPr>
              <a:spcAft>
                <a:spcPts val="900"/>
              </a:spcAft>
              <a:defRPr sz="1500">
                <a:solidFill>
                  <a:srgbClr val="1F2A32"/>
                </a:solidFill>
              </a:defRPr>
            </a:pPr>
            <a:r>
              <a:t>• Cost analysis helps break spending down by resource, resource group, service, subscription, tag and time period.</a:t>
            </a:r>
          </a:p>
          <a:p>
            <a:pPr>
              <a:spcAft>
                <a:spcPts val="900"/>
              </a:spcAft>
              <a:defRPr sz="1500">
                <a:solidFill>
                  <a:srgbClr val="1F2A32"/>
                </a:solidFill>
              </a:defRPr>
            </a:pPr>
            <a:r>
              <a:t>• Anomaly monitoring focuses attention on unusual changes so the team can investigate the underlying resource or usage pattern.</a:t>
            </a:r>
          </a:p>
        </p:txBody>
      </p:sp>
      <p:sp>
        <p:nvSpPr>
          <p:cNvPr id="5" name="Rounded Rectangle 4"/>
          <p:cNvSpPr/>
          <p:nvPr/>
        </p:nvSpPr>
        <p:spPr>
          <a:xfrm>
            <a:off x="7635240" y="1828800"/>
            <a:ext cx="3566160" cy="123444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635240" y="1828800"/>
            <a:ext cx="64008" cy="1234440"/>
          </a:xfrm>
          <a:prstGeom prst="rect">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36408" y="1993392"/>
            <a:ext cx="3200400" cy="384048"/>
          </a:xfrm>
          <a:prstGeom prst="rect">
            <a:avLst/>
          </a:prstGeom>
          <a:noFill/>
        </p:spPr>
        <p:txBody>
          <a:bodyPr wrap="none">
            <a:spAutoFit/>
          </a:bodyPr>
          <a:lstStyle/>
          <a:p>
            <a:pPr>
              <a:defRPr sz="1500" b="1">
                <a:solidFill>
                  <a:srgbClr val="1F2A32"/>
                </a:solidFill>
              </a:defRPr>
            </a:pPr>
            <a:r>
              <a:t>INPUT</a:t>
            </a:r>
          </a:p>
        </p:txBody>
      </p:sp>
      <p:sp>
        <p:nvSpPr>
          <p:cNvPr id="8" name="TextBox 7"/>
          <p:cNvSpPr txBox="1"/>
          <p:nvPr/>
        </p:nvSpPr>
        <p:spPr>
          <a:xfrm>
            <a:off x="7836408" y="2450592"/>
            <a:ext cx="3182112" cy="457200"/>
          </a:xfrm>
          <a:prstGeom prst="rect">
            <a:avLst/>
          </a:prstGeom>
          <a:noFill/>
        </p:spPr>
        <p:txBody>
          <a:bodyPr wrap="square">
            <a:spAutoFit/>
          </a:bodyPr>
          <a:lstStyle/>
          <a:p>
            <a:pPr>
              <a:defRPr sz="1150">
                <a:solidFill>
                  <a:srgbClr val="52606B"/>
                </a:solidFill>
              </a:defRPr>
            </a:pPr>
            <a:r>
              <a:t>Usage + resource metadata + subscription cost data</a:t>
            </a:r>
          </a:p>
        </p:txBody>
      </p:sp>
      <p:sp>
        <p:nvSpPr>
          <p:cNvPr id="9" name="Rounded Rectangle 8"/>
          <p:cNvSpPr/>
          <p:nvPr/>
        </p:nvSpPr>
        <p:spPr>
          <a:xfrm>
            <a:off x="7635240" y="3291840"/>
            <a:ext cx="3566160" cy="123444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635240" y="3291840"/>
            <a:ext cx="64008" cy="1234440"/>
          </a:xfrm>
          <a:prstGeom prst="rect">
            <a:avLst/>
          </a:prstGeom>
          <a:solidFill>
            <a:srgbClr val="408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36408" y="3456432"/>
            <a:ext cx="3200400" cy="384048"/>
          </a:xfrm>
          <a:prstGeom prst="rect">
            <a:avLst/>
          </a:prstGeom>
          <a:noFill/>
        </p:spPr>
        <p:txBody>
          <a:bodyPr wrap="none">
            <a:spAutoFit/>
          </a:bodyPr>
          <a:lstStyle/>
          <a:p>
            <a:pPr>
              <a:defRPr sz="1500" b="1">
                <a:solidFill>
                  <a:srgbClr val="1F2A32"/>
                </a:solidFill>
              </a:defRPr>
            </a:pPr>
            <a:r>
              <a:t>CONTROL</a:t>
            </a:r>
          </a:p>
        </p:txBody>
      </p:sp>
      <p:sp>
        <p:nvSpPr>
          <p:cNvPr id="12" name="TextBox 11"/>
          <p:cNvSpPr txBox="1"/>
          <p:nvPr/>
        </p:nvSpPr>
        <p:spPr>
          <a:xfrm>
            <a:off x="7836408" y="3913632"/>
            <a:ext cx="3182112" cy="457200"/>
          </a:xfrm>
          <a:prstGeom prst="rect">
            <a:avLst/>
          </a:prstGeom>
          <a:noFill/>
        </p:spPr>
        <p:txBody>
          <a:bodyPr wrap="square">
            <a:spAutoFit/>
          </a:bodyPr>
          <a:lstStyle/>
          <a:p>
            <a:pPr>
              <a:defRPr sz="1150">
                <a:solidFill>
                  <a:srgbClr val="52606B"/>
                </a:solidFill>
              </a:defRPr>
            </a:pPr>
            <a:r>
              <a:t>Budget thresholds + ownership tags</a:t>
            </a:r>
          </a:p>
        </p:txBody>
      </p:sp>
      <p:sp>
        <p:nvSpPr>
          <p:cNvPr id="13" name="Rounded Rectangle 12"/>
          <p:cNvSpPr/>
          <p:nvPr/>
        </p:nvSpPr>
        <p:spPr>
          <a:xfrm>
            <a:off x="7635240" y="4754880"/>
            <a:ext cx="3566160" cy="91440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635240" y="4754880"/>
            <a:ext cx="64008" cy="914400"/>
          </a:xfrm>
          <a:prstGeom prst="rect">
            <a:avLst/>
          </a:prstGeom>
          <a:solidFill>
            <a:srgbClr val="CD8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36408" y="4919472"/>
            <a:ext cx="3200400" cy="384048"/>
          </a:xfrm>
          <a:prstGeom prst="rect">
            <a:avLst/>
          </a:prstGeom>
          <a:noFill/>
        </p:spPr>
        <p:txBody>
          <a:bodyPr wrap="none">
            <a:spAutoFit/>
          </a:bodyPr>
          <a:lstStyle/>
          <a:p>
            <a:pPr>
              <a:defRPr sz="1500" b="1">
                <a:solidFill>
                  <a:srgbClr val="1F2A32"/>
                </a:solidFill>
              </a:defRPr>
            </a:pPr>
            <a:r>
              <a:t>OUTPUT</a:t>
            </a:r>
          </a:p>
        </p:txBody>
      </p:sp>
      <p:sp>
        <p:nvSpPr>
          <p:cNvPr id="16" name="TextBox 15"/>
          <p:cNvSpPr txBox="1"/>
          <p:nvPr/>
        </p:nvSpPr>
        <p:spPr>
          <a:xfrm>
            <a:off x="7836408" y="5376672"/>
            <a:ext cx="3182112" cy="137160"/>
          </a:xfrm>
          <a:prstGeom prst="rect">
            <a:avLst/>
          </a:prstGeom>
          <a:noFill/>
        </p:spPr>
        <p:txBody>
          <a:bodyPr wrap="square">
            <a:spAutoFit/>
          </a:bodyPr>
          <a:lstStyle/>
          <a:p>
            <a:pPr>
              <a:defRPr sz="1150">
                <a:solidFill>
                  <a:srgbClr val="52606B"/>
                </a:solidFill>
              </a:defRPr>
            </a:pPr>
            <a:r>
              <a:t>Alerts + monthly cost-driver report</a:t>
            </a:r>
          </a:p>
        </p:txBody>
      </p:sp>
      <p:sp>
        <p:nvSpPr>
          <p:cNvPr id="17" name="TextBox 16"/>
          <p:cNvSpPr txBox="1"/>
          <p:nvPr/>
        </p:nvSpPr>
        <p:spPr>
          <a:xfrm>
            <a:off x="11567160" y="6446520"/>
            <a:ext cx="365760" cy="228600"/>
          </a:xfrm>
          <a:prstGeom prst="rect">
            <a:avLst/>
          </a:prstGeom>
          <a:noFill/>
        </p:spPr>
        <p:txBody>
          <a:bodyPr wrap="none">
            <a:spAutoFit/>
          </a:bodyPr>
          <a:lstStyle/>
          <a:p>
            <a:pPr algn="r">
              <a:defRPr sz="900">
                <a:solidFill>
                  <a:srgbClr val="52606B"/>
                </a:solidFill>
              </a:defRPr>
            </a:pPr>
            <a:r>
              <a:t>04</a:t>
            </a:r>
          </a:p>
        </p:txBody>
      </p:sp>
      <p:sp>
        <p:nvSpPr>
          <p:cNvPr id="18" name="Rectangle 17"/>
          <p:cNvSpPr/>
          <p:nvPr/>
        </p:nvSpPr>
        <p:spPr>
          <a:xfrm>
            <a:off x="640080" y="6199632"/>
            <a:ext cx="10927080" cy="13716"/>
          </a:xfrm>
          <a:prstGeom prst="rect">
            <a:avLst/>
          </a:prstGeom>
          <a:solidFill>
            <a:srgbClr val="DAE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3657600" cy="274320"/>
          </a:xfrm>
          <a:prstGeom prst="rect">
            <a:avLst/>
          </a:prstGeom>
          <a:noFill/>
        </p:spPr>
        <p:txBody>
          <a:bodyPr wrap="square">
            <a:spAutoFit/>
          </a:bodyPr>
          <a:lstStyle/>
          <a:p>
            <a:pPr algn="l">
              <a:defRPr sz="1000" b="1">
                <a:solidFill>
                  <a:srgbClr val="2C7E9D"/>
                </a:solidFill>
              </a:defRPr>
            </a:pPr>
            <a:r>
              <a:t>ABSTRACT</a:t>
            </a:r>
          </a:p>
        </p:txBody>
      </p:sp>
      <p:sp>
        <p:nvSpPr>
          <p:cNvPr id="3" name="TextBox 2"/>
          <p:cNvSpPr txBox="1"/>
          <p:nvPr/>
        </p:nvSpPr>
        <p:spPr>
          <a:xfrm>
            <a:off x="640080" y="731520"/>
            <a:ext cx="10515600" cy="640080"/>
          </a:xfrm>
          <a:prstGeom prst="rect">
            <a:avLst/>
          </a:prstGeom>
          <a:noFill/>
        </p:spPr>
        <p:txBody>
          <a:bodyPr wrap="square">
            <a:spAutoFit/>
          </a:bodyPr>
          <a:lstStyle/>
          <a:p>
            <a:pPr algn="l">
              <a:defRPr sz="2900" b="1">
                <a:solidFill>
                  <a:srgbClr val="1F2A32"/>
                </a:solidFill>
              </a:defRPr>
            </a:pPr>
            <a:r>
              <a:t>A practical approach to Azure cost visibility</a:t>
            </a:r>
          </a:p>
        </p:txBody>
      </p:sp>
      <p:sp>
        <p:nvSpPr>
          <p:cNvPr id="4" name="TextBox 3"/>
          <p:cNvSpPr txBox="1"/>
          <p:nvPr/>
        </p:nvSpPr>
        <p:spPr>
          <a:xfrm>
            <a:off x="822960" y="1828800"/>
            <a:ext cx="10332720" cy="2377440"/>
          </a:xfrm>
          <a:prstGeom prst="rect">
            <a:avLst/>
          </a:prstGeom>
          <a:noFill/>
        </p:spPr>
        <p:txBody>
          <a:bodyPr wrap="square">
            <a:spAutoFit/>
          </a:bodyPr>
          <a:lstStyle/>
          <a:p>
            <a:pPr algn="l">
              <a:defRPr sz="1700" b="0">
                <a:solidFill>
                  <a:srgbClr val="52606B"/>
                </a:solidFill>
              </a:defRPr>
            </a:pPr>
            <a:r>
              <a:t>Azure Cost Management Budget and Anomaly Alerting is designed to help student teams monitor cloud expenditure, define spending limits, and identify unusual cost changes. The project combines Cost Analysis, budgets, alerts, and resource tags to connect cloud usage with departments, teams, projects, and owners. Monthly cost analysis is used to identify the top five cost drivers, while anomaly investigation helps explain unexpected spikes. The workflow provides a simple cycle of measuring spend, detecting a signal, investigating the responsible resource, and taking corrective action while keeping student Azure credits in mind.</a:t>
            </a:r>
          </a:p>
        </p:txBody>
      </p:sp>
      <p:sp>
        <p:nvSpPr>
          <p:cNvPr id="5" name="Rounded Rectangle 4"/>
          <p:cNvSpPr/>
          <p:nvPr/>
        </p:nvSpPr>
        <p:spPr>
          <a:xfrm>
            <a:off x="1051560" y="4709160"/>
            <a:ext cx="9966960" cy="822960"/>
          </a:xfrm>
          <a:prstGeom prst="roundRect">
            <a:avLst/>
          </a:prstGeom>
          <a:solidFill>
            <a:srgbClr val="F1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34440" y="4937760"/>
            <a:ext cx="9601200" cy="320040"/>
          </a:xfrm>
          <a:prstGeom prst="rect">
            <a:avLst/>
          </a:prstGeom>
          <a:noFill/>
        </p:spPr>
        <p:txBody>
          <a:bodyPr wrap="square">
            <a:spAutoFit/>
          </a:bodyPr>
          <a:lstStyle/>
          <a:p>
            <a:pPr algn="ctr">
              <a:defRPr sz="1700" b="1">
                <a:solidFill>
                  <a:srgbClr val="2C7E9D"/>
                </a:solidFill>
              </a:defRPr>
            </a:pPr>
            <a:r>
              <a:t>Measure  →  Budget  →  Alert  →  Investigate  →  Act</a:t>
            </a:r>
          </a:p>
        </p:txBody>
      </p:sp>
      <p:sp>
        <p:nvSpPr>
          <p:cNvPr id="7" name="TextBox 6"/>
          <p:cNvSpPr txBox="1"/>
          <p:nvPr/>
        </p:nvSpPr>
        <p:spPr>
          <a:xfrm>
            <a:off x="11567160" y="6446520"/>
            <a:ext cx="365760" cy="228600"/>
          </a:xfrm>
          <a:prstGeom prst="rect">
            <a:avLst/>
          </a:prstGeom>
          <a:noFill/>
        </p:spPr>
        <p:txBody>
          <a:bodyPr wrap="square">
            <a:spAutoFit/>
          </a:bodyPr>
          <a:lstStyle/>
          <a:p>
            <a:pPr algn="r">
              <a:defRPr sz="900" b="0">
                <a:solidFill>
                  <a:srgbClr val="52606B"/>
                </a:solidFill>
              </a:defRPr>
            </a:pPr>
            <a:r>
              <a:t>13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5943600" cy="274320"/>
          </a:xfrm>
          <a:prstGeom prst="rect">
            <a:avLst/>
          </a:prstGeom>
          <a:noFill/>
        </p:spPr>
        <p:txBody>
          <a:bodyPr wrap="none">
            <a:spAutoFit/>
          </a:bodyPr>
          <a:lstStyle/>
          <a:p>
            <a:pPr>
              <a:defRPr sz="1000" b="1">
                <a:solidFill>
                  <a:srgbClr val="2C7E9D"/>
                </a:solidFill>
              </a:defRPr>
            </a:pPr>
            <a:r>
              <a:t>METHODOLOGY</a:t>
            </a:r>
          </a:p>
        </p:txBody>
      </p:sp>
      <p:sp>
        <p:nvSpPr>
          <p:cNvPr id="3" name="TextBox 2"/>
          <p:cNvSpPr txBox="1"/>
          <p:nvPr/>
        </p:nvSpPr>
        <p:spPr>
          <a:xfrm>
            <a:off x="640080" y="658368"/>
            <a:ext cx="10789920" cy="685800"/>
          </a:xfrm>
          <a:prstGeom prst="rect">
            <a:avLst/>
          </a:prstGeom>
          <a:noFill/>
        </p:spPr>
        <p:txBody>
          <a:bodyPr wrap="none">
            <a:spAutoFit/>
          </a:bodyPr>
          <a:lstStyle/>
          <a:p>
            <a:pPr>
              <a:defRPr sz="2900" b="1">
                <a:solidFill>
                  <a:srgbClr val="1F2A32"/>
                </a:solidFill>
              </a:defRPr>
            </a:pPr>
            <a:r>
              <a:t>A simple five-stage cost-control method</a:t>
            </a:r>
          </a:p>
        </p:txBody>
      </p:sp>
      <p:sp>
        <p:nvSpPr>
          <p:cNvPr id="4" name="TextBox 3"/>
          <p:cNvSpPr txBox="1"/>
          <p:nvPr/>
        </p:nvSpPr>
        <p:spPr>
          <a:xfrm>
            <a:off x="685800" y="1828800"/>
            <a:ext cx="411480" cy="274320"/>
          </a:xfrm>
          <a:prstGeom prst="rect">
            <a:avLst/>
          </a:prstGeom>
          <a:noFill/>
        </p:spPr>
        <p:txBody>
          <a:bodyPr wrap="none">
            <a:spAutoFit/>
          </a:bodyPr>
          <a:lstStyle/>
          <a:p>
            <a:pPr>
              <a:defRPr sz="900" b="1">
                <a:solidFill>
                  <a:srgbClr val="2C7E9D"/>
                </a:solidFill>
              </a:defRPr>
            </a:pPr>
            <a:r>
              <a:t>01</a:t>
            </a:r>
          </a:p>
        </p:txBody>
      </p:sp>
      <p:sp>
        <p:nvSpPr>
          <p:cNvPr id="5" name="Rounded Rectangle 4"/>
          <p:cNvSpPr/>
          <p:nvPr/>
        </p:nvSpPr>
        <p:spPr>
          <a:xfrm>
            <a:off x="594360" y="2194560"/>
            <a:ext cx="2148840" cy="228600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2194560"/>
            <a:ext cx="64008" cy="2286000"/>
          </a:xfrm>
          <a:prstGeom prst="rect">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2359152"/>
            <a:ext cx="1783080" cy="384048"/>
          </a:xfrm>
          <a:prstGeom prst="rect">
            <a:avLst/>
          </a:prstGeom>
          <a:noFill/>
        </p:spPr>
        <p:txBody>
          <a:bodyPr wrap="none">
            <a:spAutoFit/>
          </a:bodyPr>
          <a:lstStyle/>
          <a:p>
            <a:pPr>
              <a:defRPr sz="1500" b="1">
                <a:solidFill>
                  <a:srgbClr val="1F2A32"/>
                </a:solidFill>
              </a:defRPr>
            </a:pPr>
            <a:r>
              <a:t>Inventory</a:t>
            </a:r>
          </a:p>
        </p:txBody>
      </p:sp>
      <p:sp>
        <p:nvSpPr>
          <p:cNvPr id="8" name="TextBox 7"/>
          <p:cNvSpPr txBox="1"/>
          <p:nvPr/>
        </p:nvSpPr>
        <p:spPr>
          <a:xfrm>
            <a:off x="795528" y="2816352"/>
            <a:ext cx="1764792" cy="1508760"/>
          </a:xfrm>
          <a:prstGeom prst="rect">
            <a:avLst/>
          </a:prstGeom>
          <a:noFill/>
        </p:spPr>
        <p:txBody>
          <a:bodyPr wrap="square">
            <a:spAutoFit/>
          </a:bodyPr>
          <a:lstStyle/>
          <a:p>
            <a:pPr>
              <a:defRPr sz="1150">
                <a:solidFill>
                  <a:srgbClr val="52606B"/>
                </a:solidFill>
              </a:defRPr>
            </a:pPr>
            <a:r>
              <a:t>List subscriptions, resource groups and active resources.</a:t>
            </a:r>
          </a:p>
        </p:txBody>
      </p:sp>
      <p:sp>
        <p:nvSpPr>
          <p:cNvPr id="9" name="Right Arrow 8"/>
          <p:cNvSpPr/>
          <p:nvPr/>
        </p:nvSpPr>
        <p:spPr>
          <a:xfrm>
            <a:off x="2834640" y="2971800"/>
            <a:ext cx="411480" cy="320040"/>
          </a:xfrm>
          <a:prstGeom prst="rightArrow">
            <a:avLst/>
          </a:prstGeom>
          <a:solidFill>
            <a:srgbClr val="BE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17520" y="1828800"/>
            <a:ext cx="411480" cy="274320"/>
          </a:xfrm>
          <a:prstGeom prst="rect">
            <a:avLst/>
          </a:prstGeom>
          <a:noFill/>
        </p:spPr>
        <p:txBody>
          <a:bodyPr wrap="none">
            <a:spAutoFit/>
          </a:bodyPr>
          <a:lstStyle/>
          <a:p>
            <a:pPr>
              <a:defRPr sz="900" b="1">
                <a:solidFill>
                  <a:srgbClr val="2C7E9D"/>
                </a:solidFill>
              </a:defRPr>
            </a:pPr>
            <a:r>
              <a:t>02</a:t>
            </a:r>
          </a:p>
        </p:txBody>
      </p:sp>
      <p:sp>
        <p:nvSpPr>
          <p:cNvPr id="11" name="Rounded Rectangle 10"/>
          <p:cNvSpPr/>
          <p:nvPr/>
        </p:nvSpPr>
        <p:spPr>
          <a:xfrm>
            <a:off x="2926079" y="2194560"/>
            <a:ext cx="2148840" cy="228600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926079" y="2194560"/>
            <a:ext cx="64008" cy="2286000"/>
          </a:xfrm>
          <a:prstGeom prst="rect">
            <a:avLst/>
          </a:prstGeom>
          <a:solidFill>
            <a:srgbClr val="408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127248" y="2359152"/>
            <a:ext cx="1783080" cy="384048"/>
          </a:xfrm>
          <a:prstGeom prst="rect">
            <a:avLst/>
          </a:prstGeom>
          <a:noFill/>
        </p:spPr>
        <p:txBody>
          <a:bodyPr wrap="none">
            <a:spAutoFit/>
          </a:bodyPr>
          <a:lstStyle/>
          <a:p>
            <a:pPr>
              <a:defRPr sz="1500" b="1">
                <a:solidFill>
                  <a:srgbClr val="1F2A32"/>
                </a:solidFill>
              </a:defRPr>
            </a:pPr>
            <a:r>
              <a:t>Tag</a:t>
            </a:r>
          </a:p>
        </p:txBody>
      </p:sp>
      <p:sp>
        <p:nvSpPr>
          <p:cNvPr id="14" name="TextBox 13"/>
          <p:cNvSpPr txBox="1"/>
          <p:nvPr/>
        </p:nvSpPr>
        <p:spPr>
          <a:xfrm>
            <a:off x="3127248" y="2816352"/>
            <a:ext cx="1764792" cy="1508760"/>
          </a:xfrm>
          <a:prstGeom prst="rect">
            <a:avLst/>
          </a:prstGeom>
          <a:noFill/>
        </p:spPr>
        <p:txBody>
          <a:bodyPr wrap="square">
            <a:spAutoFit/>
          </a:bodyPr>
          <a:lstStyle/>
          <a:p>
            <a:pPr>
              <a:defRPr sz="1150">
                <a:solidFill>
                  <a:srgbClr val="52606B"/>
                </a:solidFill>
              </a:defRPr>
            </a:pPr>
            <a:r>
              <a:t>Apply owner, department, project and environment tags.</a:t>
            </a:r>
          </a:p>
        </p:txBody>
      </p:sp>
      <p:sp>
        <p:nvSpPr>
          <p:cNvPr id="15" name="Right Arrow 14"/>
          <p:cNvSpPr/>
          <p:nvPr/>
        </p:nvSpPr>
        <p:spPr>
          <a:xfrm>
            <a:off x="5166360" y="2971800"/>
            <a:ext cx="411480" cy="320040"/>
          </a:xfrm>
          <a:prstGeom prst="rightArrow">
            <a:avLst/>
          </a:prstGeom>
          <a:solidFill>
            <a:srgbClr val="BE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49240" y="1828800"/>
            <a:ext cx="411480" cy="274320"/>
          </a:xfrm>
          <a:prstGeom prst="rect">
            <a:avLst/>
          </a:prstGeom>
          <a:noFill/>
        </p:spPr>
        <p:txBody>
          <a:bodyPr wrap="none">
            <a:spAutoFit/>
          </a:bodyPr>
          <a:lstStyle/>
          <a:p>
            <a:pPr>
              <a:defRPr sz="900" b="1">
                <a:solidFill>
                  <a:srgbClr val="2C7E9D"/>
                </a:solidFill>
              </a:defRPr>
            </a:pPr>
            <a:r>
              <a:t>03</a:t>
            </a:r>
          </a:p>
        </p:txBody>
      </p:sp>
      <p:sp>
        <p:nvSpPr>
          <p:cNvPr id="17" name="Rounded Rectangle 16"/>
          <p:cNvSpPr/>
          <p:nvPr/>
        </p:nvSpPr>
        <p:spPr>
          <a:xfrm>
            <a:off x="5257800" y="2194560"/>
            <a:ext cx="2148840" cy="228600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257800" y="2194560"/>
            <a:ext cx="64008" cy="2286000"/>
          </a:xfrm>
          <a:prstGeom prst="rect">
            <a:avLst/>
          </a:prstGeom>
          <a:solidFill>
            <a:srgbClr val="CD8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58968" y="2359152"/>
            <a:ext cx="1783080" cy="384048"/>
          </a:xfrm>
          <a:prstGeom prst="rect">
            <a:avLst/>
          </a:prstGeom>
          <a:noFill/>
        </p:spPr>
        <p:txBody>
          <a:bodyPr wrap="none">
            <a:spAutoFit/>
          </a:bodyPr>
          <a:lstStyle/>
          <a:p>
            <a:pPr>
              <a:defRPr sz="1500" b="1">
                <a:solidFill>
                  <a:srgbClr val="1F2A32"/>
                </a:solidFill>
              </a:defRPr>
            </a:pPr>
            <a:r>
              <a:t>Budget</a:t>
            </a:r>
          </a:p>
        </p:txBody>
      </p:sp>
      <p:sp>
        <p:nvSpPr>
          <p:cNvPr id="20" name="TextBox 19"/>
          <p:cNvSpPr txBox="1"/>
          <p:nvPr/>
        </p:nvSpPr>
        <p:spPr>
          <a:xfrm>
            <a:off x="5458968" y="2816352"/>
            <a:ext cx="1764792" cy="1508760"/>
          </a:xfrm>
          <a:prstGeom prst="rect">
            <a:avLst/>
          </a:prstGeom>
          <a:noFill/>
        </p:spPr>
        <p:txBody>
          <a:bodyPr wrap="square">
            <a:spAutoFit/>
          </a:bodyPr>
          <a:lstStyle/>
          <a:p>
            <a:pPr>
              <a:defRPr sz="1150">
                <a:solidFill>
                  <a:srgbClr val="52606B"/>
                </a:solidFill>
              </a:defRPr>
            </a:pPr>
            <a:r>
              <a:t>Create a monthly budget and threshold alerts.</a:t>
            </a:r>
          </a:p>
        </p:txBody>
      </p:sp>
      <p:sp>
        <p:nvSpPr>
          <p:cNvPr id="21" name="Right Arrow 20"/>
          <p:cNvSpPr/>
          <p:nvPr/>
        </p:nvSpPr>
        <p:spPr>
          <a:xfrm>
            <a:off x="7498079" y="2971800"/>
            <a:ext cx="411480" cy="320040"/>
          </a:xfrm>
          <a:prstGeom prst="rightArrow">
            <a:avLst/>
          </a:prstGeom>
          <a:solidFill>
            <a:srgbClr val="BE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0" y="1828800"/>
            <a:ext cx="411480" cy="274320"/>
          </a:xfrm>
          <a:prstGeom prst="rect">
            <a:avLst/>
          </a:prstGeom>
          <a:noFill/>
        </p:spPr>
        <p:txBody>
          <a:bodyPr wrap="none">
            <a:spAutoFit/>
          </a:bodyPr>
          <a:lstStyle/>
          <a:p>
            <a:pPr>
              <a:defRPr sz="900" b="1">
                <a:solidFill>
                  <a:srgbClr val="2C7E9D"/>
                </a:solidFill>
              </a:defRPr>
            </a:pPr>
            <a:r>
              <a:t>04</a:t>
            </a:r>
          </a:p>
        </p:txBody>
      </p:sp>
      <p:sp>
        <p:nvSpPr>
          <p:cNvPr id="23" name="Rounded Rectangle 22"/>
          <p:cNvSpPr/>
          <p:nvPr/>
        </p:nvSpPr>
        <p:spPr>
          <a:xfrm>
            <a:off x="7589520" y="2194560"/>
            <a:ext cx="2148840" cy="228600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589520" y="2194560"/>
            <a:ext cx="64008" cy="2286000"/>
          </a:xfrm>
          <a:prstGeom prst="rect">
            <a:avLst/>
          </a:prstGeom>
          <a:solidFill>
            <a:srgbClr val="B0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90688" y="2359152"/>
            <a:ext cx="1783080" cy="384048"/>
          </a:xfrm>
          <a:prstGeom prst="rect">
            <a:avLst/>
          </a:prstGeom>
          <a:noFill/>
        </p:spPr>
        <p:txBody>
          <a:bodyPr wrap="none">
            <a:spAutoFit/>
          </a:bodyPr>
          <a:lstStyle/>
          <a:p>
            <a:pPr>
              <a:defRPr sz="1500" b="1">
                <a:solidFill>
                  <a:srgbClr val="1F2A32"/>
                </a:solidFill>
              </a:defRPr>
            </a:pPr>
            <a:r>
              <a:t>Analyze</a:t>
            </a:r>
          </a:p>
        </p:txBody>
      </p:sp>
      <p:sp>
        <p:nvSpPr>
          <p:cNvPr id="26" name="TextBox 25"/>
          <p:cNvSpPr txBox="1"/>
          <p:nvPr/>
        </p:nvSpPr>
        <p:spPr>
          <a:xfrm>
            <a:off x="7790688" y="2816352"/>
            <a:ext cx="1764792" cy="1508760"/>
          </a:xfrm>
          <a:prstGeom prst="rect">
            <a:avLst/>
          </a:prstGeom>
          <a:noFill/>
        </p:spPr>
        <p:txBody>
          <a:bodyPr wrap="square">
            <a:spAutoFit/>
          </a:bodyPr>
          <a:lstStyle/>
          <a:p>
            <a:pPr>
              <a:defRPr sz="1150">
                <a:solidFill>
                  <a:srgbClr val="52606B"/>
                </a:solidFill>
              </a:defRPr>
            </a:pPr>
            <a:r>
              <a:t>Review cost by service/resource/tag and find the top drivers.</a:t>
            </a:r>
          </a:p>
        </p:txBody>
      </p:sp>
      <p:sp>
        <p:nvSpPr>
          <p:cNvPr id="27" name="Right Arrow 26"/>
          <p:cNvSpPr/>
          <p:nvPr/>
        </p:nvSpPr>
        <p:spPr>
          <a:xfrm>
            <a:off x="9829800" y="2971800"/>
            <a:ext cx="411480" cy="320040"/>
          </a:xfrm>
          <a:prstGeom prst="rightArrow">
            <a:avLst/>
          </a:prstGeom>
          <a:solidFill>
            <a:srgbClr val="BE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12680" y="1828800"/>
            <a:ext cx="411480" cy="274320"/>
          </a:xfrm>
          <a:prstGeom prst="rect">
            <a:avLst/>
          </a:prstGeom>
          <a:noFill/>
        </p:spPr>
        <p:txBody>
          <a:bodyPr wrap="none">
            <a:spAutoFit/>
          </a:bodyPr>
          <a:lstStyle/>
          <a:p>
            <a:pPr>
              <a:defRPr sz="900" b="1">
                <a:solidFill>
                  <a:srgbClr val="2C7E9D"/>
                </a:solidFill>
              </a:defRPr>
            </a:pPr>
            <a:r>
              <a:t>05</a:t>
            </a:r>
          </a:p>
        </p:txBody>
      </p:sp>
      <p:sp>
        <p:nvSpPr>
          <p:cNvPr id="29" name="Rounded Rectangle 28"/>
          <p:cNvSpPr/>
          <p:nvPr/>
        </p:nvSpPr>
        <p:spPr>
          <a:xfrm>
            <a:off x="9921240" y="2194560"/>
            <a:ext cx="2148840" cy="228600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921240" y="2194560"/>
            <a:ext cx="64008" cy="2286000"/>
          </a:xfrm>
          <a:prstGeom prst="rect">
            <a:avLst/>
          </a:prstGeom>
          <a:solidFill>
            <a:srgbClr val="144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122408" y="2359152"/>
            <a:ext cx="1783080" cy="384048"/>
          </a:xfrm>
          <a:prstGeom prst="rect">
            <a:avLst/>
          </a:prstGeom>
          <a:noFill/>
        </p:spPr>
        <p:txBody>
          <a:bodyPr wrap="none">
            <a:spAutoFit/>
          </a:bodyPr>
          <a:lstStyle/>
          <a:p>
            <a:pPr>
              <a:defRPr sz="1500" b="1">
                <a:solidFill>
                  <a:srgbClr val="1F2A32"/>
                </a:solidFill>
              </a:defRPr>
            </a:pPr>
            <a:r>
              <a:t>Investigate</a:t>
            </a:r>
          </a:p>
        </p:txBody>
      </p:sp>
      <p:sp>
        <p:nvSpPr>
          <p:cNvPr id="32" name="TextBox 31"/>
          <p:cNvSpPr txBox="1"/>
          <p:nvPr/>
        </p:nvSpPr>
        <p:spPr>
          <a:xfrm>
            <a:off x="10122408" y="2816352"/>
            <a:ext cx="1764792" cy="1508760"/>
          </a:xfrm>
          <a:prstGeom prst="rect">
            <a:avLst/>
          </a:prstGeom>
          <a:noFill/>
        </p:spPr>
        <p:txBody>
          <a:bodyPr wrap="square">
            <a:spAutoFit/>
          </a:bodyPr>
          <a:lstStyle/>
          <a:p>
            <a:pPr>
              <a:defRPr sz="1150">
                <a:solidFill>
                  <a:srgbClr val="52606B"/>
                </a:solidFill>
              </a:defRPr>
            </a:pPr>
            <a:r>
              <a:t>Compare unusual spend with usage and take corrective action.</a:t>
            </a:r>
          </a:p>
        </p:txBody>
      </p:sp>
      <p:sp>
        <p:nvSpPr>
          <p:cNvPr id="33" name="TextBox 32"/>
          <p:cNvSpPr txBox="1"/>
          <p:nvPr/>
        </p:nvSpPr>
        <p:spPr>
          <a:xfrm>
            <a:off x="11567160" y="6446520"/>
            <a:ext cx="365760" cy="228600"/>
          </a:xfrm>
          <a:prstGeom prst="rect">
            <a:avLst/>
          </a:prstGeom>
          <a:noFill/>
        </p:spPr>
        <p:txBody>
          <a:bodyPr wrap="none">
            <a:spAutoFit/>
          </a:bodyPr>
          <a:lstStyle/>
          <a:p>
            <a:pPr algn="r">
              <a:defRPr sz="900">
                <a:solidFill>
                  <a:srgbClr val="52606B"/>
                </a:solidFill>
              </a:defRPr>
            </a:pPr>
            <a:r>
              <a:t>05</a:t>
            </a:r>
          </a:p>
        </p:txBody>
      </p:sp>
      <p:sp>
        <p:nvSpPr>
          <p:cNvPr id="34" name="Rectangle 33"/>
          <p:cNvSpPr/>
          <p:nvPr/>
        </p:nvSpPr>
        <p:spPr>
          <a:xfrm>
            <a:off x="640080" y="6199632"/>
            <a:ext cx="10927080" cy="13716"/>
          </a:xfrm>
          <a:prstGeom prst="rect">
            <a:avLst/>
          </a:prstGeom>
          <a:solidFill>
            <a:srgbClr val="DAE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5943600" cy="274320"/>
          </a:xfrm>
          <a:prstGeom prst="rect">
            <a:avLst/>
          </a:prstGeom>
          <a:noFill/>
        </p:spPr>
        <p:txBody>
          <a:bodyPr wrap="none">
            <a:spAutoFit/>
          </a:bodyPr>
          <a:lstStyle/>
          <a:p>
            <a:pPr>
              <a:defRPr sz="1000" b="1">
                <a:solidFill>
                  <a:srgbClr val="2C7E9D"/>
                </a:solidFill>
              </a:defRPr>
            </a:pPr>
            <a:r>
              <a:t>ARCHITECTURE</a:t>
            </a:r>
          </a:p>
        </p:txBody>
      </p:sp>
      <p:sp>
        <p:nvSpPr>
          <p:cNvPr id="3" name="TextBox 2"/>
          <p:cNvSpPr txBox="1"/>
          <p:nvPr/>
        </p:nvSpPr>
        <p:spPr>
          <a:xfrm>
            <a:off x="640080" y="658368"/>
            <a:ext cx="10789920" cy="685800"/>
          </a:xfrm>
          <a:prstGeom prst="rect">
            <a:avLst/>
          </a:prstGeom>
          <a:noFill/>
        </p:spPr>
        <p:txBody>
          <a:bodyPr wrap="none">
            <a:spAutoFit/>
          </a:bodyPr>
          <a:lstStyle/>
          <a:p>
            <a:pPr>
              <a:defRPr sz="2900" b="1">
                <a:solidFill>
                  <a:srgbClr val="1F2A32"/>
                </a:solidFill>
              </a:defRPr>
            </a:pPr>
            <a:r>
              <a:t>How the cost monitoring pieces connect</a:t>
            </a:r>
          </a:p>
        </p:txBody>
      </p:sp>
      <p:sp>
        <p:nvSpPr>
          <p:cNvPr id="4" name="Rounded Rectangle 3"/>
          <p:cNvSpPr/>
          <p:nvPr/>
        </p:nvSpPr>
        <p:spPr>
          <a:xfrm>
            <a:off x="594360" y="2057400"/>
            <a:ext cx="2057400" cy="105156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2057400"/>
            <a:ext cx="64008" cy="1051560"/>
          </a:xfrm>
          <a:prstGeom prst="rect">
            <a:avLst/>
          </a:prstGeom>
          <a:solidFill>
            <a:srgbClr val="408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2221992"/>
            <a:ext cx="1691640" cy="384048"/>
          </a:xfrm>
          <a:prstGeom prst="rect">
            <a:avLst/>
          </a:prstGeom>
          <a:noFill/>
        </p:spPr>
        <p:txBody>
          <a:bodyPr wrap="none">
            <a:spAutoFit/>
          </a:bodyPr>
          <a:lstStyle/>
          <a:p>
            <a:pPr>
              <a:defRPr sz="1500" b="1">
                <a:solidFill>
                  <a:srgbClr val="1F2A32"/>
                </a:solidFill>
              </a:defRPr>
            </a:pPr>
            <a:r>
              <a:t>Azure Resources</a:t>
            </a:r>
          </a:p>
        </p:txBody>
      </p:sp>
      <p:sp>
        <p:nvSpPr>
          <p:cNvPr id="7" name="TextBox 6"/>
          <p:cNvSpPr txBox="1"/>
          <p:nvPr/>
        </p:nvSpPr>
        <p:spPr>
          <a:xfrm>
            <a:off x="795528" y="2679192"/>
            <a:ext cx="1673352" cy="274319"/>
          </a:xfrm>
          <a:prstGeom prst="rect">
            <a:avLst/>
          </a:prstGeom>
          <a:noFill/>
        </p:spPr>
        <p:txBody>
          <a:bodyPr wrap="square">
            <a:spAutoFit/>
          </a:bodyPr>
          <a:lstStyle/>
          <a:p>
            <a:pPr>
              <a:defRPr sz="1150">
                <a:solidFill>
                  <a:srgbClr val="52606B"/>
                </a:solidFill>
              </a:defRPr>
            </a:pPr>
            <a:r>
              <a:t>VMs • Storage • Database • Network</a:t>
            </a:r>
          </a:p>
        </p:txBody>
      </p:sp>
      <p:sp>
        <p:nvSpPr>
          <p:cNvPr id="8" name="Rounded Rectangle 7"/>
          <p:cNvSpPr/>
          <p:nvPr/>
        </p:nvSpPr>
        <p:spPr>
          <a:xfrm>
            <a:off x="3063240" y="2057400"/>
            <a:ext cx="2057400" cy="105156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063240" y="2057400"/>
            <a:ext cx="64008" cy="1051560"/>
          </a:xfrm>
          <a:prstGeom prst="rect">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64408" y="2221992"/>
            <a:ext cx="1691640" cy="384048"/>
          </a:xfrm>
          <a:prstGeom prst="rect">
            <a:avLst/>
          </a:prstGeom>
          <a:noFill/>
        </p:spPr>
        <p:txBody>
          <a:bodyPr wrap="none">
            <a:spAutoFit/>
          </a:bodyPr>
          <a:lstStyle/>
          <a:p>
            <a:pPr>
              <a:defRPr sz="1500" b="1">
                <a:solidFill>
                  <a:srgbClr val="1F2A32"/>
                </a:solidFill>
              </a:defRPr>
            </a:pPr>
            <a:r>
              <a:t>Cost Data</a:t>
            </a:r>
          </a:p>
        </p:txBody>
      </p:sp>
      <p:sp>
        <p:nvSpPr>
          <p:cNvPr id="11" name="TextBox 10"/>
          <p:cNvSpPr txBox="1"/>
          <p:nvPr/>
        </p:nvSpPr>
        <p:spPr>
          <a:xfrm>
            <a:off x="3264408" y="2679192"/>
            <a:ext cx="1673352" cy="274319"/>
          </a:xfrm>
          <a:prstGeom prst="rect">
            <a:avLst/>
          </a:prstGeom>
          <a:noFill/>
        </p:spPr>
        <p:txBody>
          <a:bodyPr wrap="square">
            <a:spAutoFit/>
          </a:bodyPr>
          <a:lstStyle/>
          <a:p>
            <a:pPr>
              <a:defRPr sz="1150">
                <a:solidFill>
                  <a:srgbClr val="52606B"/>
                </a:solidFill>
              </a:defRPr>
            </a:pPr>
            <a:r>
              <a:t>Usage + charges + resource metadata</a:t>
            </a:r>
          </a:p>
        </p:txBody>
      </p:sp>
      <p:sp>
        <p:nvSpPr>
          <p:cNvPr id="12" name="Rounded Rectangle 11"/>
          <p:cNvSpPr/>
          <p:nvPr/>
        </p:nvSpPr>
        <p:spPr>
          <a:xfrm>
            <a:off x="5532120" y="2057400"/>
            <a:ext cx="2057400" cy="105156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532120" y="2057400"/>
            <a:ext cx="64008" cy="1051560"/>
          </a:xfrm>
          <a:prstGeom prst="rect">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33288" y="2221992"/>
            <a:ext cx="1691640" cy="384048"/>
          </a:xfrm>
          <a:prstGeom prst="rect">
            <a:avLst/>
          </a:prstGeom>
          <a:noFill/>
        </p:spPr>
        <p:txBody>
          <a:bodyPr wrap="none">
            <a:spAutoFit/>
          </a:bodyPr>
          <a:lstStyle/>
          <a:p>
            <a:pPr>
              <a:defRPr sz="1500" b="1">
                <a:solidFill>
                  <a:srgbClr val="1F2A32"/>
                </a:solidFill>
              </a:defRPr>
            </a:pPr>
            <a:r>
              <a:t>Cost Management</a:t>
            </a:r>
          </a:p>
        </p:txBody>
      </p:sp>
      <p:sp>
        <p:nvSpPr>
          <p:cNvPr id="15" name="TextBox 14"/>
          <p:cNvSpPr txBox="1"/>
          <p:nvPr/>
        </p:nvSpPr>
        <p:spPr>
          <a:xfrm>
            <a:off x="5733288" y="2679192"/>
            <a:ext cx="1673352" cy="274319"/>
          </a:xfrm>
          <a:prstGeom prst="rect">
            <a:avLst/>
          </a:prstGeom>
          <a:noFill/>
        </p:spPr>
        <p:txBody>
          <a:bodyPr wrap="square">
            <a:spAutoFit/>
          </a:bodyPr>
          <a:lstStyle/>
          <a:p>
            <a:pPr>
              <a:defRPr sz="1150">
                <a:solidFill>
                  <a:srgbClr val="52606B"/>
                </a:solidFill>
              </a:defRPr>
            </a:pPr>
            <a:r>
              <a:t>Cost Analysis • Budgets • Alerts</a:t>
            </a:r>
          </a:p>
        </p:txBody>
      </p:sp>
      <p:sp>
        <p:nvSpPr>
          <p:cNvPr id="16" name="Rounded Rectangle 15"/>
          <p:cNvSpPr/>
          <p:nvPr/>
        </p:nvSpPr>
        <p:spPr>
          <a:xfrm>
            <a:off x="8001000" y="2057400"/>
            <a:ext cx="2057400" cy="105156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01000" y="2057400"/>
            <a:ext cx="64008" cy="1051560"/>
          </a:xfrm>
          <a:prstGeom prst="rect">
            <a:avLst/>
          </a:prstGeom>
          <a:solidFill>
            <a:srgbClr val="408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02168" y="2221992"/>
            <a:ext cx="1691640" cy="384048"/>
          </a:xfrm>
          <a:prstGeom prst="rect">
            <a:avLst/>
          </a:prstGeom>
          <a:noFill/>
        </p:spPr>
        <p:txBody>
          <a:bodyPr wrap="none">
            <a:spAutoFit/>
          </a:bodyPr>
          <a:lstStyle/>
          <a:p>
            <a:pPr>
              <a:defRPr sz="1500" b="1">
                <a:solidFill>
                  <a:srgbClr val="1F2A32"/>
                </a:solidFill>
              </a:defRPr>
            </a:pPr>
            <a:r>
              <a:t>Anomaly Review</a:t>
            </a:r>
          </a:p>
        </p:txBody>
      </p:sp>
      <p:sp>
        <p:nvSpPr>
          <p:cNvPr id="19" name="TextBox 18"/>
          <p:cNvSpPr txBox="1"/>
          <p:nvPr/>
        </p:nvSpPr>
        <p:spPr>
          <a:xfrm>
            <a:off x="8202168" y="2679192"/>
            <a:ext cx="1673352" cy="274319"/>
          </a:xfrm>
          <a:prstGeom prst="rect">
            <a:avLst/>
          </a:prstGeom>
          <a:noFill/>
        </p:spPr>
        <p:txBody>
          <a:bodyPr wrap="square">
            <a:spAutoFit/>
          </a:bodyPr>
          <a:lstStyle/>
          <a:p>
            <a:pPr>
              <a:defRPr sz="1150">
                <a:solidFill>
                  <a:srgbClr val="52606B"/>
                </a:solidFill>
              </a:defRPr>
            </a:pPr>
            <a:r>
              <a:t>Unusual change • Top drivers</a:t>
            </a:r>
          </a:p>
        </p:txBody>
      </p:sp>
      <p:sp>
        <p:nvSpPr>
          <p:cNvPr id="20" name="Rounded Rectangle 19"/>
          <p:cNvSpPr/>
          <p:nvPr/>
        </p:nvSpPr>
        <p:spPr>
          <a:xfrm>
            <a:off x="4800600" y="4160520"/>
            <a:ext cx="2606040" cy="105156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800600" y="4160520"/>
            <a:ext cx="64008" cy="1051560"/>
          </a:xfrm>
          <a:prstGeom prst="rect">
            <a:avLst/>
          </a:prstGeom>
          <a:solidFill>
            <a:srgbClr val="408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01768" y="4325112"/>
            <a:ext cx="2240280" cy="384048"/>
          </a:xfrm>
          <a:prstGeom prst="rect">
            <a:avLst/>
          </a:prstGeom>
          <a:noFill/>
        </p:spPr>
        <p:txBody>
          <a:bodyPr wrap="none">
            <a:spAutoFit/>
          </a:bodyPr>
          <a:lstStyle/>
          <a:p>
            <a:pPr>
              <a:defRPr sz="1500" b="1">
                <a:solidFill>
                  <a:srgbClr val="1F2A32"/>
                </a:solidFill>
              </a:defRPr>
            </a:pPr>
            <a:r>
              <a:t>Team Action</a:t>
            </a:r>
          </a:p>
        </p:txBody>
      </p:sp>
      <p:sp>
        <p:nvSpPr>
          <p:cNvPr id="23" name="TextBox 22"/>
          <p:cNvSpPr txBox="1"/>
          <p:nvPr/>
        </p:nvSpPr>
        <p:spPr>
          <a:xfrm>
            <a:off x="5001768" y="4782312"/>
            <a:ext cx="2221992" cy="274319"/>
          </a:xfrm>
          <a:prstGeom prst="rect">
            <a:avLst/>
          </a:prstGeom>
          <a:noFill/>
        </p:spPr>
        <p:txBody>
          <a:bodyPr wrap="square">
            <a:spAutoFit/>
          </a:bodyPr>
          <a:lstStyle/>
          <a:p>
            <a:pPr>
              <a:defRPr sz="1150">
                <a:solidFill>
                  <a:srgbClr val="52606B"/>
                </a:solidFill>
              </a:defRPr>
            </a:pPr>
            <a:r>
              <a:t>Owner notified → investigate → optimize</a:t>
            </a:r>
          </a:p>
        </p:txBody>
      </p:sp>
      <p:sp>
        <p:nvSpPr>
          <p:cNvPr id="24" name="Right Arrow 23"/>
          <p:cNvSpPr/>
          <p:nvPr/>
        </p:nvSpPr>
        <p:spPr>
          <a:xfrm>
            <a:off x="2651760" y="2404872"/>
            <a:ext cx="411480" cy="292608"/>
          </a:xfrm>
          <a:prstGeom prst="rightArrow">
            <a:avLst/>
          </a:prstGeom>
          <a:solidFill>
            <a:srgbClr val="144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ight Arrow 24"/>
          <p:cNvSpPr/>
          <p:nvPr/>
        </p:nvSpPr>
        <p:spPr>
          <a:xfrm>
            <a:off x="5120640" y="2404872"/>
            <a:ext cx="411480" cy="292608"/>
          </a:xfrm>
          <a:prstGeom prst="rightArrow">
            <a:avLst/>
          </a:prstGeom>
          <a:solidFill>
            <a:srgbClr val="144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ight Arrow 25"/>
          <p:cNvSpPr/>
          <p:nvPr/>
        </p:nvSpPr>
        <p:spPr>
          <a:xfrm>
            <a:off x="7589520" y="2404872"/>
            <a:ext cx="411480" cy="292608"/>
          </a:xfrm>
          <a:prstGeom prst="rightArrow">
            <a:avLst/>
          </a:prstGeom>
          <a:solidFill>
            <a:srgbClr val="144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Down Arrow 26"/>
          <p:cNvSpPr/>
          <p:nvPr/>
        </p:nvSpPr>
        <p:spPr>
          <a:xfrm>
            <a:off x="6492240" y="3154680"/>
            <a:ext cx="320040" cy="914400"/>
          </a:xfrm>
          <a:prstGeom prst="downArrow">
            <a:avLst/>
          </a:prstGeom>
          <a:solidFill>
            <a:srgbClr val="144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5440680"/>
            <a:ext cx="10241280" cy="411480"/>
          </a:xfrm>
          <a:prstGeom prst="rect">
            <a:avLst/>
          </a:prstGeom>
          <a:noFill/>
        </p:spPr>
        <p:txBody>
          <a:bodyPr wrap="none">
            <a:spAutoFit/>
          </a:bodyPr>
          <a:lstStyle/>
          <a:p>
            <a:pPr algn="ctr">
              <a:defRPr sz="1300">
                <a:solidFill>
                  <a:srgbClr val="52606B"/>
                </a:solidFill>
              </a:defRPr>
            </a:pPr>
            <a:r>
              <a:t>Central idea: measure the spend, assign ownership, set thresholds, detect unusual changes, then act on the evidence.</a:t>
            </a:r>
          </a:p>
        </p:txBody>
      </p:sp>
      <p:sp>
        <p:nvSpPr>
          <p:cNvPr id="29" name="TextBox 28"/>
          <p:cNvSpPr txBox="1"/>
          <p:nvPr/>
        </p:nvSpPr>
        <p:spPr>
          <a:xfrm>
            <a:off x="11567160" y="6446520"/>
            <a:ext cx="365760" cy="228600"/>
          </a:xfrm>
          <a:prstGeom prst="rect">
            <a:avLst/>
          </a:prstGeom>
          <a:noFill/>
        </p:spPr>
        <p:txBody>
          <a:bodyPr wrap="none">
            <a:spAutoFit/>
          </a:bodyPr>
          <a:lstStyle/>
          <a:p>
            <a:pPr algn="r">
              <a:defRPr sz="900">
                <a:solidFill>
                  <a:srgbClr val="52606B"/>
                </a:solidFill>
              </a:defRPr>
            </a:pPr>
            <a:r>
              <a:t>06</a:t>
            </a:r>
          </a:p>
        </p:txBody>
      </p:sp>
      <p:sp>
        <p:nvSpPr>
          <p:cNvPr id="30" name="Rectangle 29"/>
          <p:cNvSpPr/>
          <p:nvPr/>
        </p:nvSpPr>
        <p:spPr>
          <a:xfrm>
            <a:off x="640080" y="6199632"/>
            <a:ext cx="10927080" cy="13716"/>
          </a:xfrm>
          <a:prstGeom prst="rect">
            <a:avLst/>
          </a:prstGeom>
          <a:solidFill>
            <a:srgbClr val="DAE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5943600" cy="274320"/>
          </a:xfrm>
          <a:prstGeom prst="rect">
            <a:avLst/>
          </a:prstGeom>
          <a:noFill/>
        </p:spPr>
        <p:txBody>
          <a:bodyPr wrap="none">
            <a:spAutoFit/>
          </a:bodyPr>
          <a:lstStyle/>
          <a:p>
            <a:pPr>
              <a:defRPr sz="1000" b="1">
                <a:solidFill>
                  <a:srgbClr val="2C7E9D"/>
                </a:solidFill>
              </a:defRPr>
            </a:pPr>
            <a:r>
              <a:t>WORKFLOW</a:t>
            </a:r>
          </a:p>
        </p:txBody>
      </p:sp>
      <p:sp>
        <p:nvSpPr>
          <p:cNvPr id="3" name="TextBox 2"/>
          <p:cNvSpPr txBox="1"/>
          <p:nvPr/>
        </p:nvSpPr>
        <p:spPr>
          <a:xfrm>
            <a:off x="640080" y="658368"/>
            <a:ext cx="10789920" cy="685800"/>
          </a:xfrm>
          <a:prstGeom prst="rect">
            <a:avLst/>
          </a:prstGeom>
          <a:noFill/>
        </p:spPr>
        <p:txBody>
          <a:bodyPr wrap="none">
            <a:spAutoFit/>
          </a:bodyPr>
          <a:lstStyle/>
          <a:p>
            <a:pPr>
              <a:defRPr sz="2900" b="1">
                <a:solidFill>
                  <a:srgbClr val="1F2A32"/>
                </a:solidFill>
              </a:defRPr>
            </a:pPr>
            <a:r>
              <a:t>From cloud usage to a corrective action</a:t>
            </a:r>
          </a:p>
        </p:txBody>
      </p:sp>
      <p:sp>
        <p:nvSpPr>
          <p:cNvPr id="4" name="Oval 3"/>
          <p:cNvSpPr/>
          <p:nvPr/>
        </p:nvSpPr>
        <p:spPr>
          <a:xfrm>
            <a:off x="777240" y="1691640"/>
            <a:ext cx="475488" cy="475488"/>
          </a:xfrm>
          <a:prstGeom prst="ellipse">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5" name="Rounded Rectangle 4"/>
          <p:cNvSpPr/>
          <p:nvPr/>
        </p:nvSpPr>
        <p:spPr>
          <a:xfrm>
            <a:off x="1463040" y="1618488"/>
            <a:ext cx="9326880" cy="658368"/>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1618488"/>
            <a:ext cx="64008" cy="658368"/>
          </a:xfrm>
          <a:prstGeom prst="rect">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64208" y="1783080"/>
            <a:ext cx="8961119" cy="384048"/>
          </a:xfrm>
          <a:prstGeom prst="rect">
            <a:avLst/>
          </a:prstGeom>
          <a:noFill/>
        </p:spPr>
        <p:txBody>
          <a:bodyPr wrap="none">
            <a:spAutoFit/>
          </a:bodyPr>
          <a:lstStyle/>
          <a:p>
            <a:pPr>
              <a:defRPr sz="1500" b="1">
                <a:solidFill>
                  <a:srgbClr val="1F2A32"/>
                </a:solidFill>
              </a:defRPr>
            </a:pPr>
            <a:r>
              <a:t>Resource created</a:t>
            </a:r>
          </a:p>
        </p:txBody>
      </p:sp>
      <p:sp>
        <p:nvSpPr>
          <p:cNvPr id="8" name="TextBox 7"/>
          <p:cNvSpPr txBox="1"/>
          <p:nvPr/>
        </p:nvSpPr>
        <p:spPr>
          <a:xfrm>
            <a:off x="1664208" y="2240280"/>
            <a:ext cx="8942832" cy="0"/>
          </a:xfrm>
          <a:prstGeom prst="rect">
            <a:avLst/>
          </a:prstGeom>
          <a:noFill/>
        </p:spPr>
        <p:txBody>
          <a:bodyPr wrap="square">
            <a:spAutoFit/>
          </a:bodyPr>
          <a:lstStyle/>
          <a:p>
            <a:pPr>
              <a:defRPr sz="1150">
                <a:solidFill>
                  <a:srgbClr val="52606B"/>
                </a:solidFill>
              </a:defRPr>
            </a:pPr>
            <a:r>
              <a:t>A student/team deploys a resource.</a:t>
            </a:r>
          </a:p>
        </p:txBody>
      </p:sp>
      <p:sp>
        <p:nvSpPr>
          <p:cNvPr id="9" name="Rectangle 8"/>
          <p:cNvSpPr/>
          <p:nvPr/>
        </p:nvSpPr>
        <p:spPr>
          <a:xfrm>
            <a:off x="996696" y="2167128"/>
            <a:ext cx="45720" cy="310896"/>
          </a:xfrm>
          <a:prstGeom prst="rect">
            <a:avLst/>
          </a:prstGeom>
          <a:solidFill>
            <a:srgbClr val="BE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77240" y="2441448"/>
            <a:ext cx="475488" cy="475488"/>
          </a:xfrm>
          <a:prstGeom prst="ellipse">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11" name="Rounded Rectangle 10"/>
          <p:cNvSpPr/>
          <p:nvPr/>
        </p:nvSpPr>
        <p:spPr>
          <a:xfrm>
            <a:off x="1463040" y="2368296"/>
            <a:ext cx="9326880" cy="658368"/>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463040" y="2368296"/>
            <a:ext cx="64008" cy="658368"/>
          </a:xfrm>
          <a:prstGeom prst="rect">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664208" y="2532888"/>
            <a:ext cx="8961119" cy="384048"/>
          </a:xfrm>
          <a:prstGeom prst="rect">
            <a:avLst/>
          </a:prstGeom>
          <a:noFill/>
        </p:spPr>
        <p:txBody>
          <a:bodyPr wrap="none">
            <a:spAutoFit/>
          </a:bodyPr>
          <a:lstStyle/>
          <a:p>
            <a:pPr>
              <a:defRPr sz="1500" b="1">
                <a:solidFill>
                  <a:srgbClr val="1F2A32"/>
                </a:solidFill>
              </a:defRPr>
            </a:pPr>
            <a:r>
              <a:t>Usage generates cost</a:t>
            </a:r>
          </a:p>
        </p:txBody>
      </p:sp>
      <p:sp>
        <p:nvSpPr>
          <p:cNvPr id="14" name="TextBox 13"/>
          <p:cNvSpPr txBox="1"/>
          <p:nvPr/>
        </p:nvSpPr>
        <p:spPr>
          <a:xfrm>
            <a:off x="1664208" y="2990088"/>
            <a:ext cx="8942832" cy="0"/>
          </a:xfrm>
          <a:prstGeom prst="rect">
            <a:avLst/>
          </a:prstGeom>
          <a:noFill/>
        </p:spPr>
        <p:txBody>
          <a:bodyPr wrap="square">
            <a:spAutoFit/>
          </a:bodyPr>
          <a:lstStyle/>
          <a:p>
            <a:pPr>
              <a:defRPr sz="1150">
                <a:solidFill>
                  <a:srgbClr val="52606B"/>
                </a:solidFill>
              </a:defRPr>
            </a:pPr>
            <a:r>
              <a:t>Azure records usage and charges.</a:t>
            </a:r>
          </a:p>
        </p:txBody>
      </p:sp>
      <p:sp>
        <p:nvSpPr>
          <p:cNvPr id="15" name="Rectangle 14"/>
          <p:cNvSpPr/>
          <p:nvPr/>
        </p:nvSpPr>
        <p:spPr>
          <a:xfrm>
            <a:off x="996696" y="2916936"/>
            <a:ext cx="45720" cy="310896"/>
          </a:xfrm>
          <a:prstGeom prst="rect">
            <a:avLst/>
          </a:prstGeom>
          <a:solidFill>
            <a:srgbClr val="BE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77240" y="3191256"/>
            <a:ext cx="475488" cy="475488"/>
          </a:xfrm>
          <a:prstGeom prst="ellipse">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7" name="Rounded Rectangle 16"/>
          <p:cNvSpPr/>
          <p:nvPr/>
        </p:nvSpPr>
        <p:spPr>
          <a:xfrm>
            <a:off x="1463040" y="3118103"/>
            <a:ext cx="9326880" cy="658368"/>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463040" y="3118103"/>
            <a:ext cx="64008" cy="658368"/>
          </a:xfrm>
          <a:prstGeom prst="rect">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664208" y="3282696"/>
            <a:ext cx="8961119" cy="384048"/>
          </a:xfrm>
          <a:prstGeom prst="rect">
            <a:avLst/>
          </a:prstGeom>
          <a:noFill/>
        </p:spPr>
        <p:txBody>
          <a:bodyPr wrap="none">
            <a:spAutoFit/>
          </a:bodyPr>
          <a:lstStyle/>
          <a:p>
            <a:pPr>
              <a:defRPr sz="1500" b="1">
                <a:solidFill>
                  <a:srgbClr val="1F2A32"/>
                </a:solidFill>
              </a:defRPr>
            </a:pPr>
            <a:r>
              <a:t>Budget evaluates spend</a:t>
            </a:r>
          </a:p>
        </p:txBody>
      </p:sp>
      <p:sp>
        <p:nvSpPr>
          <p:cNvPr id="20" name="TextBox 19"/>
          <p:cNvSpPr txBox="1"/>
          <p:nvPr/>
        </p:nvSpPr>
        <p:spPr>
          <a:xfrm>
            <a:off x="1664208" y="3739896"/>
            <a:ext cx="8942832" cy="0"/>
          </a:xfrm>
          <a:prstGeom prst="rect">
            <a:avLst/>
          </a:prstGeom>
          <a:noFill/>
        </p:spPr>
        <p:txBody>
          <a:bodyPr wrap="square">
            <a:spAutoFit/>
          </a:bodyPr>
          <a:lstStyle/>
          <a:p>
            <a:pPr>
              <a:defRPr sz="1150">
                <a:solidFill>
                  <a:srgbClr val="52606B"/>
                </a:solidFill>
              </a:defRPr>
            </a:pPr>
            <a:r>
              <a:t>Current spend is compared with the configured budget.</a:t>
            </a:r>
          </a:p>
        </p:txBody>
      </p:sp>
      <p:sp>
        <p:nvSpPr>
          <p:cNvPr id="21" name="Rectangle 20"/>
          <p:cNvSpPr/>
          <p:nvPr/>
        </p:nvSpPr>
        <p:spPr>
          <a:xfrm>
            <a:off x="996696" y="3666744"/>
            <a:ext cx="45720" cy="310896"/>
          </a:xfrm>
          <a:prstGeom prst="rect">
            <a:avLst/>
          </a:prstGeom>
          <a:solidFill>
            <a:srgbClr val="BE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77240" y="3941063"/>
            <a:ext cx="475488" cy="475488"/>
          </a:xfrm>
          <a:prstGeom prst="ellipse">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23" name="Rounded Rectangle 22"/>
          <p:cNvSpPr/>
          <p:nvPr/>
        </p:nvSpPr>
        <p:spPr>
          <a:xfrm>
            <a:off x="1463040" y="3867911"/>
            <a:ext cx="9326880" cy="658368"/>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463040" y="3867911"/>
            <a:ext cx="64008" cy="658368"/>
          </a:xfrm>
          <a:prstGeom prst="rect">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664208" y="4032503"/>
            <a:ext cx="8961119" cy="384048"/>
          </a:xfrm>
          <a:prstGeom prst="rect">
            <a:avLst/>
          </a:prstGeom>
          <a:noFill/>
        </p:spPr>
        <p:txBody>
          <a:bodyPr wrap="none">
            <a:spAutoFit/>
          </a:bodyPr>
          <a:lstStyle/>
          <a:p>
            <a:pPr>
              <a:defRPr sz="1500" b="1">
                <a:solidFill>
                  <a:srgbClr val="1F2A32"/>
                </a:solidFill>
              </a:defRPr>
            </a:pPr>
            <a:r>
              <a:t>Alert is triggered</a:t>
            </a:r>
          </a:p>
        </p:txBody>
      </p:sp>
      <p:sp>
        <p:nvSpPr>
          <p:cNvPr id="26" name="TextBox 25"/>
          <p:cNvSpPr txBox="1"/>
          <p:nvPr/>
        </p:nvSpPr>
        <p:spPr>
          <a:xfrm>
            <a:off x="1664208" y="4489703"/>
            <a:ext cx="8942832" cy="0"/>
          </a:xfrm>
          <a:prstGeom prst="rect">
            <a:avLst/>
          </a:prstGeom>
          <a:noFill/>
        </p:spPr>
        <p:txBody>
          <a:bodyPr wrap="square">
            <a:spAutoFit/>
          </a:bodyPr>
          <a:lstStyle/>
          <a:p>
            <a:pPr>
              <a:defRPr sz="1150">
                <a:solidFill>
                  <a:srgbClr val="52606B"/>
                </a:solidFill>
              </a:defRPr>
            </a:pPr>
            <a:r>
              <a:t>Threshold or anomaly signal draws attention.</a:t>
            </a:r>
          </a:p>
        </p:txBody>
      </p:sp>
      <p:sp>
        <p:nvSpPr>
          <p:cNvPr id="27" name="Rectangle 26"/>
          <p:cNvSpPr/>
          <p:nvPr/>
        </p:nvSpPr>
        <p:spPr>
          <a:xfrm>
            <a:off x="996696" y="4416552"/>
            <a:ext cx="45720" cy="310896"/>
          </a:xfrm>
          <a:prstGeom prst="rect">
            <a:avLst/>
          </a:prstGeom>
          <a:solidFill>
            <a:srgbClr val="BE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77240" y="4690872"/>
            <a:ext cx="475488" cy="475488"/>
          </a:xfrm>
          <a:prstGeom prst="ellipse">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29" name="Rounded Rectangle 28"/>
          <p:cNvSpPr/>
          <p:nvPr/>
        </p:nvSpPr>
        <p:spPr>
          <a:xfrm>
            <a:off x="1463040" y="4617720"/>
            <a:ext cx="9326880" cy="658368"/>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0" y="4617720"/>
            <a:ext cx="64008" cy="658368"/>
          </a:xfrm>
          <a:prstGeom prst="rect">
            <a:avLst/>
          </a:prstGeom>
          <a:solidFill>
            <a:srgbClr val="408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664208" y="4782312"/>
            <a:ext cx="8961119" cy="384048"/>
          </a:xfrm>
          <a:prstGeom prst="rect">
            <a:avLst/>
          </a:prstGeom>
          <a:noFill/>
        </p:spPr>
        <p:txBody>
          <a:bodyPr wrap="none">
            <a:spAutoFit/>
          </a:bodyPr>
          <a:lstStyle/>
          <a:p>
            <a:pPr>
              <a:defRPr sz="1500" b="1">
                <a:solidFill>
                  <a:srgbClr val="1F2A32"/>
                </a:solidFill>
              </a:defRPr>
            </a:pPr>
            <a:r>
              <a:t>Owner investigates</a:t>
            </a:r>
          </a:p>
        </p:txBody>
      </p:sp>
      <p:sp>
        <p:nvSpPr>
          <p:cNvPr id="32" name="TextBox 31"/>
          <p:cNvSpPr txBox="1"/>
          <p:nvPr/>
        </p:nvSpPr>
        <p:spPr>
          <a:xfrm>
            <a:off x="1664208" y="5239512"/>
            <a:ext cx="8942832" cy="0"/>
          </a:xfrm>
          <a:prstGeom prst="rect">
            <a:avLst/>
          </a:prstGeom>
          <a:noFill/>
        </p:spPr>
        <p:txBody>
          <a:bodyPr wrap="square">
            <a:spAutoFit/>
          </a:bodyPr>
          <a:lstStyle/>
          <a:p>
            <a:pPr>
              <a:defRPr sz="1150">
                <a:solidFill>
                  <a:srgbClr val="52606B"/>
                </a:solidFill>
              </a:defRPr>
            </a:pPr>
            <a:r>
              <a:t>Review service, resource and tags in Cost Analysis.</a:t>
            </a:r>
          </a:p>
        </p:txBody>
      </p:sp>
      <p:sp>
        <p:nvSpPr>
          <p:cNvPr id="33" name="Rectangle 32"/>
          <p:cNvSpPr/>
          <p:nvPr/>
        </p:nvSpPr>
        <p:spPr>
          <a:xfrm>
            <a:off x="996696" y="5166360"/>
            <a:ext cx="45720" cy="310896"/>
          </a:xfrm>
          <a:prstGeom prst="rect">
            <a:avLst/>
          </a:prstGeom>
          <a:solidFill>
            <a:srgbClr val="BEC9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777240" y="5440680"/>
            <a:ext cx="475488" cy="475488"/>
          </a:xfrm>
          <a:prstGeom prst="ellipse">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6</a:t>
            </a:r>
          </a:p>
        </p:txBody>
      </p:sp>
      <p:sp>
        <p:nvSpPr>
          <p:cNvPr id="35" name="Rounded Rectangle 34"/>
          <p:cNvSpPr/>
          <p:nvPr/>
        </p:nvSpPr>
        <p:spPr>
          <a:xfrm>
            <a:off x="1463040" y="5367528"/>
            <a:ext cx="9326880" cy="658368"/>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463040" y="5367528"/>
            <a:ext cx="64008" cy="658368"/>
          </a:xfrm>
          <a:prstGeom prst="rect">
            <a:avLst/>
          </a:prstGeom>
          <a:solidFill>
            <a:srgbClr val="408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664208" y="5532120"/>
            <a:ext cx="8961119" cy="384048"/>
          </a:xfrm>
          <a:prstGeom prst="rect">
            <a:avLst/>
          </a:prstGeom>
          <a:noFill/>
        </p:spPr>
        <p:txBody>
          <a:bodyPr wrap="none">
            <a:spAutoFit/>
          </a:bodyPr>
          <a:lstStyle/>
          <a:p>
            <a:pPr>
              <a:defRPr sz="1500" b="1">
                <a:solidFill>
                  <a:srgbClr val="1F2A32"/>
                </a:solidFill>
              </a:defRPr>
            </a:pPr>
            <a:r>
              <a:t>Action taken</a:t>
            </a:r>
          </a:p>
        </p:txBody>
      </p:sp>
      <p:sp>
        <p:nvSpPr>
          <p:cNvPr id="38" name="TextBox 37"/>
          <p:cNvSpPr txBox="1"/>
          <p:nvPr/>
        </p:nvSpPr>
        <p:spPr>
          <a:xfrm>
            <a:off x="1664208" y="5989320"/>
            <a:ext cx="8942832" cy="0"/>
          </a:xfrm>
          <a:prstGeom prst="rect">
            <a:avLst/>
          </a:prstGeom>
          <a:noFill/>
        </p:spPr>
        <p:txBody>
          <a:bodyPr wrap="square">
            <a:spAutoFit/>
          </a:bodyPr>
          <a:lstStyle/>
          <a:p>
            <a:pPr>
              <a:defRPr sz="1150">
                <a:solidFill>
                  <a:srgbClr val="52606B"/>
                </a:solidFill>
              </a:defRPr>
            </a:pPr>
            <a:r>
              <a:t>Stop, resize, delete, schedule or redesign the resource as appropriate.</a:t>
            </a:r>
          </a:p>
        </p:txBody>
      </p:sp>
      <p:sp>
        <p:nvSpPr>
          <p:cNvPr id="39" name="TextBox 38"/>
          <p:cNvSpPr txBox="1"/>
          <p:nvPr/>
        </p:nvSpPr>
        <p:spPr>
          <a:xfrm>
            <a:off x="11567160" y="6446520"/>
            <a:ext cx="365760" cy="228600"/>
          </a:xfrm>
          <a:prstGeom prst="rect">
            <a:avLst/>
          </a:prstGeom>
          <a:noFill/>
        </p:spPr>
        <p:txBody>
          <a:bodyPr wrap="none">
            <a:spAutoFit/>
          </a:bodyPr>
          <a:lstStyle/>
          <a:p>
            <a:pPr algn="r">
              <a:defRPr sz="900">
                <a:solidFill>
                  <a:srgbClr val="52606B"/>
                </a:solidFill>
              </a:defRPr>
            </a:pPr>
            <a:r>
              <a:t>07</a:t>
            </a:r>
          </a:p>
        </p:txBody>
      </p:sp>
      <p:sp>
        <p:nvSpPr>
          <p:cNvPr id="40" name="Rectangle 39"/>
          <p:cNvSpPr/>
          <p:nvPr/>
        </p:nvSpPr>
        <p:spPr>
          <a:xfrm>
            <a:off x="640080" y="6199632"/>
            <a:ext cx="10927080" cy="13716"/>
          </a:xfrm>
          <a:prstGeom prst="rect">
            <a:avLst/>
          </a:prstGeom>
          <a:solidFill>
            <a:srgbClr val="DAE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5943600" cy="274320"/>
          </a:xfrm>
          <a:prstGeom prst="rect">
            <a:avLst/>
          </a:prstGeom>
          <a:noFill/>
        </p:spPr>
        <p:txBody>
          <a:bodyPr wrap="none">
            <a:spAutoFit/>
          </a:bodyPr>
          <a:lstStyle/>
          <a:p>
            <a:pPr>
              <a:defRPr sz="1000" b="1">
                <a:solidFill>
                  <a:srgbClr val="2C7E9D"/>
                </a:solidFill>
              </a:defRPr>
            </a:pPr>
            <a:r>
              <a:t>ANOMALY DETECTION</a:t>
            </a:r>
          </a:p>
        </p:txBody>
      </p:sp>
      <p:sp>
        <p:nvSpPr>
          <p:cNvPr id="3" name="TextBox 2"/>
          <p:cNvSpPr txBox="1"/>
          <p:nvPr/>
        </p:nvSpPr>
        <p:spPr>
          <a:xfrm>
            <a:off x="640080" y="658368"/>
            <a:ext cx="10789920" cy="685800"/>
          </a:xfrm>
          <a:prstGeom prst="rect">
            <a:avLst/>
          </a:prstGeom>
          <a:noFill/>
        </p:spPr>
        <p:txBody>
          <a:bodyPr wrap="none">
            <a:spAutoFit/>
          </a:bodyPr>
          <a:lstStyle/>
          <a:p>
            <a:pPr>
              <a:defRPr sz="2900" b="1">
                <a:solidFill>
                  <a:srgbClr val="1F2A32"/>
                </a:solidFill>
              </a:defRPr>
            </a:pPr>
            <a:r>
              <a:t>What counts as an anomaly?</a:t>
            </a:r>
          </a:p>
        </p:txBody>
      </p:sp>
      <p:sp>
        <p:nvSpPr>
          <p:cNvPr id="4" name="Rounded Rectangle 3"/>
          <p:cNvSpPr/>
          <p:nvPr/>
        </p:nvSpPr>
        <p:spPr>
          <a:xfrm>
            <a:off x="685800" y="1783080"/>
            <a:ext cx="3337560" cy="192024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783080"/>
            <a:ext cx="64008" cy="1920240"/>
          </a:xfrm>
          <a:prstGeom prst="rect">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947672"/>
            <a:ext cx="2971800" cy="384048"/>
          </a:xfrm>
          <a:prstGeom prst="rect">
            <a:avLst/>
          </a:prstGeom>
          <a:noFill/>
        </p:spPr>
        <p:txBody>
          <a:bodyPr wrap="none">
            <a:spAutoFit/>
          </a:bodyPr>
          <a:lstStyle/>
          <a:p>
            <a:pPr>
              <a:defRPr sz="1500" b="1">
                <a:solidFill>
                  <a:srgbClr val="1F2A32"/>
                </a:solidFill>
              </a:defRPr>
            </a:pPr>
            <a:r>
              <a:t>Baseline</a:t>
            </a:r>
          </a:p>
        </p:txBody>
      </p:sp>
      <p:sp>
        <p:nvSpPr>
          <p:cNvPr id="7" name="TextBox 6"/>
          <p:cNvSpPr txBox="1"/>
          <p:nvPr/>
        </p:nvSpPr>
        <p:spPr>
          <a:xfrm>
            <a:off x="886968" y="2404872"/>
            <a:ext cx="2953512" cy="1143000"/>
          </a:xfrm>
          <a:prstGeom prst="rect">
            <a:avLst/>
          </a:prstGeom>
          <a:noFill/>
        </p:spPr>
        <p:txBody>
          <a:bodyPr wrap="square">
            <a:spAutoFit/>
          </a:bodyPr>
          <a:lstStyle/>
          <a:p>
            <a:pPr>
              <a:defRPr sz="1150">
                <a:solidFill>
                  <a:srgbClr val="52606B"/>
                </a:solidFill>
              </a:defRPr>
            </a:pPr>
            <a:r>
              <a:t>Establish the normal spending pattern for the chosen subscription, resource group, service or resource.</a:t>
            </a:r>
          </a:p>
        </p:txBody>
      </p:sp>
      <p:sp>
        <p:nvSpPr>
          <p:cNvPr id="8" name="Rounded Rectangle 7"/>
          <p:cNvSpPr/>
          <p:nvPr/>
        </p:nvSpPr>
        <p:spPr>
          <a:xfrm>
            <a:off x="4434840" y="1783080"/>
            <a:ext cx="3337560" cy="192024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434840" y="1783080"/>
            <a:ext cx="64008" cy="1920240"/>
          </a:xfrm>
          <a:prstGeom prst="rect">
            <a:avLst/>
          </a:prstGeom>
          <a:solidFill>
            <a:srgbClr val="CD8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36007" y="1947672"/>
            <a:ext cx="2971800" cy="384048"/>
          </a:xfrm>
          <a:prstGeom prst="rect">
            <a:avLst/>
          </a:prstGeom>
          <a:noFill/>
        </p:spPr>
        <p:txBody>
          <a:bodyPr wrap="none">
            <a:spAutoFit/>
          </a:bodyPr>
          <a:lstStyle/>
          <a:p>
            <a:pPr>
              <a:defRPr sz="1500" b="1">
                <a:solidFill>
                  <a:srgbClr val="1F2A32"/>
                </a:solidFill>
              </a:defRPr>
            </a:pPr>
            <a:r>
              <a:t>Signal</a:t>
            </a:r>
          </a:p>
        </p:txBody>
      </p:sp>
      <p:sp>
        <p:nvSpPr>
          <p:cNvPr id="11" name="TextBox 10"/>
          <p:cNvSpPr txBox="1"/>
          <p:nvPr/>
        </p:nvSpPr>
        <p:spPr>
          <a:xfrm>
            <a:off x="4636007" y="2404872"/>
            <a:ext cx="2953512" cy="1143000"/>
          </a:xfrm>
          <a:prstGeom prst="rect">
            <a:avLst/>
          </a:prstGeom>
          <a:noFill/>
        </p:spPr>
        <p:txBody>
          <a:bodyPr wrap="square">
            <a:spAutoFit/>
          </a:bodyPr>
          <a:lstStyle/>
          <a:p>
            <a:pPr>
              <a:defRPr sz="1150">
                <a:solidFill>
                  <a:srgbClr val="52606B"/>
                </a:solidFill>
              </a:defRPr>
            </a:pPr>
            <a:r>
              <a:t>A sudden increase, unexpected new cost, or abnormal change becomes a candidate for investigation.</a:t>
            </a:r>
          </a:p>
        </p:txBody>
      </p:sp>
      <p:sp>
        <p:nvSpPr>
          <p:cNvPr id="12" name="Rounded Rectangle 11"/>
          <p:cNvSpPr/>
          <p:nvPr/>
        </p:nvSpPr>
        <p:spPr>
          <a:xfrm>
            <a:off x="8183879" y="1783080"/>
            <a:ext cx="3337560" cy="192024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183879" y="1783080"/>
            <a:ext cx="64008" cy="1920240"/>
          </a:xfrm>
          <a:prstGeom prst="rect">
            <a:avLst/>
          </a:prstGeom>
          <a:solidFill>
            <a:srgbClr val="408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85048" y="1947672"/>
            <a:ext cx="2971800" cy="384048"/>
          </a:xfrm>
          <a:prstGeom prst="rect">
            <a:avLst/>
          </a:prstGeom>
          <a:noFill/>
        </p:spPr>
        <p:txBody>
          <a:bodyPr wrap="none">
            <a:spAutoFit/>
          </a:bodyPr>
          <a:lstStyle/>
          <a:p>
            <a:pPr>
              <a:defRPr sz="1500" b="1">
                <a:solidFill>
                  <a:srgbClr val="1F2A32"/>
                </a:solidFill>
              </a:defRPr>
            </a:pPr>
            <a:r>
              <a:t>Investigation</a:t>
            </a:r>
          </a:p>
        </p:txBody>
      </p:sp>
      <p:sp>
        <p:nvSpPr>
          <p:cNvPr id="15" name="TextBox 14"/>
          <p:cNvSpPr txBox="1"/>
          <p:nvPr/>
        </p:nvSpPr>
        <p:spPr>
          <a:xfrm>
            <a:off x="8385048" y="2404872"/>
            <a:ext cx="2953512" cy="1143000"/>
          </a:xfrm>
          <a:prstGeom prst="rect">
            <a:avLst/>
          </a:prstGeom>
          <a:noFill/>
        </p:spPr>
        <p:txBody>
          <a:bodyPr wrap="square">
            <a:spAutoFit/>
          </a:bodyPr>
          <a:lstStyle/>
          <a:p>
            <a:pPr>
              <a:defRPr sz="1150">
                <a:solidFill>
                  <a:srgbClr val="52606B"/>
                </a:solidFill>
              </a:defRPr>
            </a:pPr>
            <a:r>
              <a:t>Check the resource, usage, deployment time, tags and recent configuration changes before deciding what happened.</a:t>
            </a:r>
          </a:p>
        </p:txBody>
      </p:sp>
      <p:sp>
        <p:nvSpPr>
          <p:cNvPr id="16" name="TextBox 15"/>
          <p:cNvSpPr txBox="1"/>
          <p:nvPr/>
        </p:nvSpPr>
        <p:spPr>
          <a:xfrm>
            <a:off x="777240" y="4160520"/>
            <a:ext cx="10515600" cy="1097280"/>
          </a:xfrm>
          <a:prstGeom prst="rect">
            <a:avLst/>
          </a:prstGeom>
          <a:noFill/>
        </p:spPr>
        <p:txBody>
          <a:bodyPr wrap="none">
            <a:spAutoFit/>
          </a:bodyPr>
          <a:lstStyle/>
          <a:p>
            <a:pPr>
              <a:defRPr sz="1800" b="1">
                <a:solidFill>
                  <a:srgbClr val="1F2A32"/>
                </a:solidFill>
              </a:defRPr>
            </a:pPr>
            <a:r>
              <a:t>Example</a:t>
            </a:r>
          </a:p>
          <a:p>
            <a:pPr>
              <a:spcAft>
                <a:spcPts val="400"/>
              </a:spcAft>
              <a:defRPr sz="1300">
                <a:solidFill>
                  <a:srgbClr val="52606B"/>
                </a:solidFill>
              </a:defRPr>
            </a:pPr>
            <a:r>
              <a:t>• Normal monthly compute spend: approximately ₹X.</a:t>
            </a:r>
          </a:p>
          <a:p>
            <a:pPr>
              <a:spcAft>
                <a:spcPts val="400"/>
              </a:spcAft>
              <a:defRPr sz="1300">
                <a:solidFill>
                  <a:srgbClr val="52606B"/>
                </a:solidFill>
              </a:defRPr>
            </a:pPr>
            <a:r>
              <a:t>• Current month shows a sharp increase after a new VM was deployed.</a:t>
            </a:r>
          </a:p>
          <a:p>
            <a:pPr>
              <a:spcAft>
                <a:spcPts val="400"/>
              </a:spcAft>
              <a:defRPr sz="1300">
                <a:solidFill>
                  <a:srgbClr val="52606B"/>
                </a:solidFill>
              </a:defRPr>
            </a:pPr>
            <a:r>
              <a:t>• Cost Analysis identifies the VM as one of the top five cost drivers.</a:t>
            </a:r>
          </a:p>
          <a:p>
            <a:pPr>
              <a:spcAft>
                <a:spcPts val="400"/>
              </a:spcAft>
              <a:defRPr sz="1300">
                <a:solidFill>
                  <a:srgbClr val="52606B"/>
                </a:solidFill>
              </a:defRPr>
            </a:pPr>
            <a:r>
              <a:t>• The owner checks the VM size, running hours and whether it is still required.</a:t>
            </a:r>
          </a:p>
        </p:txBody>
      </p:sp>
      <p:sp>
        <p:nvSpPr>
          <p:cNvPr id="17" name="TextBox 16"/>
          <p:cNvSpPr txBox="1"/>
          <p:nvPr/>
        </p:nvSpPr>
        <p:spPr>
          <a:xfrm>
            <a:off x="11567160" y="6446520"/>
            <a:ext cx="365760" cy="228600"/>
          </a:xfrm>
          <a:prstGeom prst="rect">
            <a:avLst/>
          </a:prstGeom>
          <a:noFill/>
        </p:spPr>
        <p:txBody>
          <a:bodyPr wrap="none">
            <a:spAutoFit/>
          </a:bodyPr>
          <a:lstStyle/>
          <a:p>
            <a:pPr algn="r">
              <a:defRPr sz="900">
                <a:solidFill>
                  <a:srgbClr val="52606B"/>
                </a:solidFill>
              </a:defRPr>
            </a:pPr>
            <a:r>
              <a:t>08</a:t>
            </a:r>
          </a:p>
        </p:txBody>
      </p:sp>
      <p:sp>
        <p:nvSpPr>
          <p:cNvPr id="18" name="Rectangle 17"/>
          <p:cNvSpPr/>
          <p:nvPr/>
        </p:nvSpPr>
        <p:spPr>
          <a:xfrm>
            <a:off x="640080" y="6199632"/>
            <a:ext cx="10927080" cy="13716"/>
          </a:xfrm>
          <a:prstGeom prst="rect">
            <a:avLst/>
          </a:prstGeom>
          <a:solidFill>
            <a:srgbClr val="DAE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5943600" cy="274320"/>
          </a:xfrm>
          <a:prstGeom prst="rect">
            <a:avLst/>
          </a:prstGeom>
          <a:noFill/>
        </p:spPr>
        <p:txBody>
          <a:bodyPr wrap="none">
            <a:spAutoFit/>
          </a:bodyPr>
          <a:lstStyle/>
          <a:p>
            <a:pPr>
              <a:defRPr sz="1000" b="1">
                <a:solidFill>
                  <a:srgbClr val="2C7E9D"/>
                </a:solidFill>
              </a:defRPr>
            </a:pPr>
            <a:r>
              <a:t>IMPLEMENTATION</a:t>
            </a:r>
          </a:p>
        </p:txBody>
      </p:sp>
      <p:sp>
        <p:nvSpPr>
          <p:cNvPr id="3" name="TextBox 2"/>
          <p:cNvSpPr txBox="1"/>
          <p:nvPr/>
        </p:nvSpPr>
        <p:spPr>
          <a:xfrm>
            <a:off x="640080" y="658368"/>
            <a:ext cx="10789920" cy="685800"/>
          </a:xfrm>
          <a:prstGeom prst="rect">
            <a:avLst/>
          </a:prstGeom>
          <a:noFill/>
        </p:spPr>
        <p:txBody>
          <a:bodyPr wrap="none">
            <a:spAutoFit/>
          </a:bodyPr>
          <a:lstStyle/>
          <a:p>
            <a:pPr>
              <a:defRPr sz="2900" b="1">
                <a:solidFill>
                  <a:srgbClr val="1F2A32"/>
                </a:solidFill>
              </a:defRPr>
            </a:pPr>
            <a:r>
              <a:t>Student-friendly Azure Portal setup</a:t>
            </a:r>
          </a:p>
        </p:txBody>
      </p:sp>
      <p:sp>
        <p:nvSpPr>
          <p:cNvPr id="4" name="TextBox 3"/>
          <p:cNvSpPr txBox="1"/>
          <p:nvPr/>
        </p:nvSpPr>
        <p:spPr>
          <a:xfrm>
            <a:off x="777240" y="1691640"/>
            <a:ext cx="457200" cy="274320"/>
          </a:xfrm>
          <a:prstGeom prst="rect">
            <a:avLst/>
          </a:prstGeom>
          <a:noFill/>
        </p:spPr>
        <p:txBody>
          <a:bodyPr wrap="none">
            <a:spAutoFit/>
          </a:bodyPr>
          <a:lstStyle/>
          <a:p>
            <a:pPr>
              <a:defRPr sz="900" b="1">
                <a:solidFill>
                  <a:srgbClr val="2C7E9D"/>
                </a:solidFill>
              </a:defRPr>
            </a:pPr>
            <a:r>
              <a:t>01</a:t>
            </a:r>
          </a:p>
        </p:txBody>
      </p:sp>
      <p:sp>
        <p:nvSpPr>
          <p:cNvPr id="5" name="Rounded Rectangle 4"/>
          <p:cNvSpPr/>
          <p:nvPr/>
        </p:nvSpPr>
        <p:spPr>
          <a:xfrm>
            <a:off x="1325880" y="1618488"/>
            <a:ext cx="9784080" cy="64008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325880" y="1618488"/>
            <a:ext cx="64008" cy="640080"/>
          </a:xfrm>
          <a:prstGeom prst="rect">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27048" y="1783080"/>
            <a:ext cx="9418319" cy="384048"/>
          </a:xfrm>
          <a:prstGeom prst="rect">
            <a:avLst/>
          </a:prstGeom>
          <a:noFill/>
        </p:spPr>
        <p:txBody>
          <a:bodyPr wrap="none">
            <a:spAutoFit/>
          </a:bodyPr>
          <a:lstStyle/>
          <a:p>
            <a:pPr>
              <a:defRPr sz="1500" b="1">
                <a:solidFill>
                  <a:srgbClr val="1F2A32"/>
                </a:solidFill>
              </a:defRPr>
            </a:pPr>
            <a:r>
              <a:t>Open Cost Management + Billing</a:t>
            </a:r>
          </a:p>
        </p:txBody>
      </p:sp>
      <p:sp>
        <p:nvSpPr>
          <p:cNvPr id="8" name="TextBox 7"/>
          <p:cNvSpPr txBox="1"/>
          <p:nvPr/>
        </p:nvSpPr>
        <p:spPr>
          <a:xfrm>
            <a:off x="1527048" y="2240280"/>
            <a:ext cx="9400032" cy="0"/>
          </a:xfrm>
          <a:prstGeom prst="rect">
            <a:avLst/>
          </a:prstGeom>
          <a:noFill/>
        </p:spPr>
        <p:txBody>
          <a:bodyPr wrap="square">
            <a:spAutoFit/>
          </a:bodyPr>
          <a:lstStyle/>
          <a:p>
            <a:pPr>
              <a:defRPr sz="1150">
                <a:solidFill>
                  <a:srgbClr val="52606B"/>
                </a:solidFill>
              </a:defRPr>
            </a:pPr>
            <a:r>
              <a:t>Choose the correct student subscription.</a:t>
            </a:r>
          </a:p>
        </p:txBody>
      </p:sp>
      <p:sp>
        <p:nvSpPr>
          <p:cNvPr id="9" name="TextBox 8"/>
          <p:cNvSpPr txBox="1"/>
          <p:nvPr/>
        </p:nvSpPr>
        <p:spPr>
          <a:xfrm>
            <a:off x="777240" y="2404872"/>
            <a:ext cx="457200" cy="274320"/>
          </a:xfrm>
          <a:prstGeom prst="rect">
            <a:avLst/>
          </a:prstGeom>
          <a:noFill/>
        </p:spPr>
        <p:txBody>
          <a:bodyPr wrap="none">
            <a:spAutoFit/>
          </a:bodyPr>
          <a:lstStyle/>
          <a:p>
            <a:pPr>
              <a:defRPr sz="900" b="1">
                <a:solidFill>
                  <a:srgbClr val="2C7E9D"/>
                </a:solidFill>
              </a:defRPr>
            </a:pPr>
            <a:r>
              <a:t>02</a:t>
            </a:r>
          </a:p>
        </p:txBody>
      </p:sp>
      <p:sp>
        <p:nvSpPr>
          <p:cNvPr id="10" name="Rounded Rectangle 9"/>
          <p:cNvSpPr/>
          <p:nvPr/>
        </p:nvSpPr>
        <p:spPr>
          <a:xfrm>
            <a:off x="1325880" y="2331720"/>
            <a:ext cx="9784080" cy="64008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325880" y="2331720"/>
            <a:ext cx="64008" cy="640080"/>
          </a:xfrm>
          <a:prstGeom prst="rect">
            <a:avLst/>
          </a:prstGeom>
          <a:solidFill>
            <a:srgbClr val="408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27048" y="2496312"/>
            <a:ext cx="9418319" cy="384048"/>
          </a:xfrm>
          <a:prstGeom prst="rect">
            <a:avLst/>
          </a:prstGeom>
          <a:noFill/>
        </p:spPr>
        <p:txBody>
          <a:bodyPr wrap="none">
            <a:spAutoFit/>
          </a:bodyPr>
          <a:lstStyle/>
          <a:p>
            <a:pPr>
              <a:defRPr sz="1500" b="1">
                <a:solidFill>
                  <a:srgbClr val="1F2A32"/>
                </a:solidFill>
              </a:defRPr>
            </a:pPr>
            <a:r>
              <a:t>Review Cost Analysis</a:t>
            </a:r>
          </a:p>
        </p:txBody>
      </p:sp>
      <p:sp>
        <p:nvSpPr>
          <p:cNvPr id="13" name="TextBox 12"/>
          <p:cNvSpPr txBox="1"/>
          <p:nvPr/>
        </p:nvSpPr>
        <p:spPr>
          <a:xfrm>
            <a:off x="1527048" y="2953512"/>
            <a:ext cx="9400032" cy="0"/>
          </a:xfrm>
          <a:prstGeom prst="rect">
            <a:avLst/>
          </a:prstGeom>
          <a:noFill/>
        </p:spPr>
        <p:txBody>
          <a:bodyPr wrap="square">
            <a:spAutoFit/>
          </a:bodyPr>
          <a:lstStyle/>
          <a:p>
            <a:pPr>
              <a:defRPr sz="1150">
                <a:solidFill>
                  <a:srgbClr val="52606B"/>
                </a:solidFill>
              </a:defRPr>
            </a:pPr>
            <a:r>
              <a:t>Set the time range and group costs by service/resource.</a:t>
            </a:r>
          </a:p>
        </p:txBody>
      </p:sp>
      <p:sp>
        <p:nvSpPr>
          <p:cNvPr id="14" name="TextBox 13"/>
          <p:cNvSpPr txBox="1"/>
          <p:nvPr/>
        </p:nvSpPr>
        <p:spPr>
          <a:xfrm>
            <a:off x="777240" y="3118104"/>
            <a:ext cx="457200" cy="274320"/>
          </a:xfrm>
          <a:prstGeom prst="rect">
            <a:avLst/>
          </a:prstGeom>
          <a:noFill/>
        </p:spPr>
        <p:txBody>
          <a:bodyPr wrap="none">
            <a:spAutoFit/>
          </a:bodyPr>
          <a:lstStyle/>
          <a:p>
            <a:pPr>
              <a:defRPr sz="900" b="1">
                <a:solidFill>
                  <a:srgbClr val="2C7E9D"/>
                </a:solidFill>
              </a:defRPr>
            </a:pPr>
            <a:r>
              <a:t>03</a:t>
            </a:r>
          </a:p>
        </p:txBody>
      </p:sp>
      <p:sp>
        <p:nvSpPr>
          <p:cNvPr id="15" name="Rounded Rectangle 14"/>
          <p:cNvSpPr/>
          <p:nvPr/>
        </p:nvSpPr>
        <p:spPr>
          <a:xfrm>
            <a:off x="1325880" y="3044952"/>
            <a:ext cx="9784080" cy="64008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325880" y="3044952"/>
            <a:ext cx="64008" cy="640080"/>
          </a:xfrm>
          <a:prstGeom prst="rect">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527048" y="3209544"/>
            <a:ext cx="9418319" cy="384048"/>
          </a:xfrm>
          <a:prstGeom prst="rect">
            <a:avLst/>
          </a:prstGeom>
          <a:noFill/>
        </p:spPr>
        <p:txBody>
          <a:bodyPr wrap="none">
            <a:spAutoFit/>
          </a:bodyPr>
          <a:lstStyle/>
          <a:p>
            <a:pPr>
              <a:defRPr sz="1500" b="1">
                <a:solidFill>
                  <a:srgbClr val="1F2A32"/>
                </a:solidFill>
              </a:defRPr>
            </a:pPr>
            <a:r>
              <a:t>Add cost allocation tags</a:t>
            </a:r>
          </a:p>
        </p:txBody>
      </p:sp>
      <p:sp>
        <p:nvSpPr>
          <p:cNvPr id="18" name="TextBox 17"/>
          <p:cNvSpPr txBox="1"/>
          <p:nvPr/>
        </p:nvSpPr>
        <p:spPr>
          <a:xfrm>
            <a:off x="1527048" y="3666744"/>
            <a:ext cx="9400032" cy="0"/>
          </a:xfrm>
          <a:prstGeom prst="rect">
            <a:avLst/>
          </a:prstGeom>
          <a:noFill/>
        </p:spPr>
        <p:txBody>
          <a:bodyPr wrap="square">
            <a:spAutoFit/>
          </a:bodyPr>
          <a:lstStyle/>
          <a:p>
            <a:pPr>
              <a:defRPr sz="1150">
                <a:solidFill>
                  <a:srgbClr val="52606B"/>
                </a:solidFill>
              </a:defRPr>
            </a:pPr>
            <a:r>
              <a:t>Use consistent values such as Department, Team, Project and Environment.</a:t>
            </a:r>
          </a:p>
        </p:txBody>
      </p:sp>
      <p:sp>
        <p:nvSpPr>
          <p:cNvPr id="19" name="TextBox 18"/>
          <p:cNvSpPr txBox="1"/>
          <p:nvPr/>
        </p:nvSpPr>
        <p:spPr>
          <a:xfrm>
            <a:off x="777240" y="3831336"/>
            <a:ext cx="457200" cy="274320"/>
          </a:xfrm>
          <a:prstGeom prst="rect">
            <a:avLst/>
          </a:prstGeom>
          <a:noFill/>
        </p:spPr>
        <p:txBody>
          <a:bodyPr wrap="none">
            <a:spAutoFit/>
          </a:bodyPr>
          <a:lstStyle/>
          <a:p>
            <a:pPr>
              <a:defRPr sz="900" b="1">
                <a:solidFill>
                  <a:srgbClr val="2C7E9D"/>
                </a:solidFill>
              </a:defRPr>
            </a:pPr>
            <a:r>
              <a:t>04</a:t>
            </a:r>
          </a:p>
        </p:txBody>
      </p:sp>
      <p:sp>
        <p:nvSpPr>
          <p:cNvPr id="20" name="Rounded Rectangle 19"/>
          <p:cNvSpPr/>
          <p:nvPr/>
        </p:nvSpPr>
        <p:spPr>
          <a:xfrm>
            <a:off x="1325880" y="3758184"/>
            <a:ext cx="9784080" cy="64008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325880" y="3758184"/>
            <a:ext cx="64008" cy="640080"/>
          </a:xfrm>
          <a:prstGeom prst="rect">
            <a:avLst/>
          </a:prstGeom>
          <a:solidFill>
            <a:srgbClr val="408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527048" y="3922776"/>
            <a:ext cx="9418319" cy="384048"/>
          </a:xfrm>
          <a:prstGeom prst="rect">
            <a:avLst/>
          </a:prstGeom>
          <a:noFill/>
        </p:spPr>
        <p:txBody>
          <a:bodyPr wrap="none">
            <a:spAutoFit/>
          </a:bodyPr>
          <a:lstStyle/>
          <a:p>
            <a:pPr>
              <a:defRPr sz="1500" b="1">
                <a:solidFill>
                  <a:srgbClr val="1F2A32"/>
                </a:solidFill>
              </a:defRPr>
            </a:pPr>
            <a:r>
              <a:t>Create a budget</a:t>
            </a:r>
          </a:p>
        </p:txBody>
      </p:sp>
      <p:sp>
        <p:nvSpPr>
          <p:cNvPr id="23" name="TextBox 22"/>
          <p:cNvSpPr txBox="1"/>
          <p:nvPr/>
        </p:nvSpPr>
        <p:spPr>
          <a:xfrm>
            <a:off x="1527048" y="4379976"/>
            <a:ext cx="9400032" cy="0"/>
          </a:xfrm>
          <a:prstGeom prst="rect">
            <a:avLst/>
          </a:prstGeom>
          <a:noFill/>
        </p:spPr>
        <p:txBody>
          <a:bodyPr wrap="square">
            <a:spAutoFit/>
          </a:bodyPr>
          <a:lstStyle/>
          <a:p>
            <a:pPr>
              <a:defRPr sz="1150">
                <a:solidFill>
                  <a:srgbClr val="52606B"/>
                </a:solidFill>
              </a:defRPr>
            </a:pPr>
            <a:r>
              <a:t>Set a monthly amount that fits the available student credits.</a:t>
            </a:r>
          </a:p>
        </p:txBody>
      </p:sp>
      <p:sp>
        <p:nvSpPr>
          <p:cNvPr id="24" name="TextBox 23"/>
          <p:cNvSpPr txBox="1"/>
          <p:nvPr/>
        </p:nvSpPr>
        <p:spPr>
          <a:xfrm>
            <a:off x="777240" y="4544568"/>
            <a:ext cx="457200" cy="274320"/>
          </a:xfrm>
          <a:prstGeom prst="rect">
            <a:avLst/>
          </a:prstGeom>
          <a:noFill/>
        </p:spPr>
        <p:txBody>
          <a:bodyPr wrap="none">
            <a:spAutoFit/>
          </a:bodyPr>
          <a:lstStyle/>
          <a:p>
            <a:pPr>
              <a:defRPr sz="900" b="1">
                <a:solidFill>
                  <a:srgbClr val="2C7E9D"/>
                </a:solidFill>
              </a:defRPr>
            </a:pPr>
            <a:r>
              <a:t>05</a:t>
            </a:r>
          </a:p>
        </p:txBody>
      </p:sp>
      <p:sp>
        <p:nvSpPr>
          <p:cNvPr id="25" name="Rounded Rectangle 24"/>
          <p:cNvSpPr/>
          <p:nvPr/>
        </p:nvSpPr>
        <p:spPr>
          <a:xfrm>
            <a:off x="1325880" y="4471416"/>
            <a:ext cx="9784080" cy="64008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325880" y="4471416"/>
            <a:ext cx="64008" cy="640080"/>
          </a:xfrm>
          <a:prstGeom prst="rect">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527048" y="4636008"/>
            <a:ext cx="9418319" cy="384048"/>
          </a:xfrm>
          <a:prstGeom prst="rect">
            <a:avLst/>
          </a:prstGeom>
          <a:noFill/>
        </p:spPr>
        <p:txBody>
          <a:bodyPr wrap="none">
            <a:spAutoFit/>
          </a:bodyPr>
          <a:lstStyle/>
          <a:p>
            <a:pPr>
              <a:defRPr sz="1500" b="1">
                <a:solidFill>
                  <a:srgbClr val="1F2A32"/>
                </a:solidFill>
              </a:defRPr>
            </a:pPr>
            <a:r>
              <a:t>Configure alerts</a:t>
            </a:r>
          </a:p>
        </p:txBody>
      </p:sp>
      <p:sp>
        <p:nvSpPr>
          <p:cNvPr id="28" name="TextBox 27"/>
          <p:cNvSpPr txBox="1"/>
          <p:nvPr/>
        </p:nvSpPr>
        <p:spPr>
          <a:xfrm>
            <a:off x="1527048" y="5093208"/>
            <a:ext cx="9400032" cy="0"/>
          </a:xfrm>
          <a:prstGeom prst="rect">
            <a:avLst/>
          </a:prstGeom>
          <a:noFill/>
        </p:spPr>
        <p:txBody>
          <a:bodyPr wrap="square">
            <a:spAutoFit/>
          </a:bodyPr>
          <a:lstStyle/>
          <a:p>
            <a:pPr>
              <a:defRPr sz="1150">
                <a:solidFill>
                  <a:srgbClr val="52606B"/>
                </a:solidFill>
              </a:defRPr>
            </a:pPr>
            <a:r>
              <a:t>Choose threshold percentages and notification recipients.</a:t>
            </a:r>
          </a:p>
        </p:txBody>
      </p:sp>
      <p:sp>
        <p:nvSpPr>
          <p:cNvPr id="29" name="TextBox 28"/>
          <p:cNvSpPr txBox="1"/>
          <p:nvPr/>
        </p:nvSpPr>
        <p:spPr>
          <a:xfrm>
            <a:off x="777240" y="5257800"/>
            <a:ext cx="457200" cy="274320"/>
          </a:xfrm>
          <a:prstGeom prst="rect">
            <a:avLst/>
          </a:prstGeom>
          <a:noFill/>
        </p:spPr>
        <p:txBody>
          <a:bodyPr wrap="none">
            <a:spAutoFit/>
          </a:bodyPr>
          <a:lstStyle/>
          <a:p>
            <a:pPr>
              <a:defRPr sz="900" b="1">
                <a:solidFill>
                  <a:srgbClr val="2C7E9D"/>
                </a:solidFill>
              </a:defRPr>
            </a:pPr>
            <a:r>
              <a:t>06</a:t>
            </a:r>
          </a:p>
        </p:txBody>
      </p:sp>
      <p:sp>
        <p:nvSpPr>
          <p:cNvPr id="30" name="Rounded Rectangle 29"/>
          <p:cNvSpPr/>
          <p:nvPr/>
        </p:nvSpPr>
        <p:spPr>
          <a:xfrm>
            <a:off x="1325880" y="5184648"/>
            <a:ext cx="9784080" cy="64008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1325880" y="5184648"/>
            <a:ext cx="64008" cy="640080"/>
          </a:xfrm>
          <a:prstGeom prst="rect">
            <a:avLst/>
          </a:prstGeom>
          <a:solidFill>
            <a:srgbClr val="408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527048" y="5349240"/>
            <a:ext cx="9418319" cy="384048"/>
          </a:xfrm>
          <a:prstGeom prst="rect">
            <a:avLst/>
          </a:prstGeom>
          <a:noFill/>
        </p:spPr>
        <p:txBody>
          <a:bodyPr wrap="none">
            <a:spAutoFit/>
          </a:bodyPr>
          <a:lstStyle/>
          <a:p>
            <a:pPr>
              <a:defRPr sz="1500" b="1">
                <a:solidFill>
                  <a:srgbClr val="1F2A32"/>
                </a:solidFill>
              </a:defRPr>
            </a:pPr>
            <a:r>
              <a:t>Review anomalies</a:t>
            </a:r>
          </a:p>
        </p:txBody>
      </p:sp>
      <p:sp>
        <p:nvSpPr>
          <p:cNvPr id="33" name="TextBox 32"/>
          <p:cNvSpPr txBox="1"/>
          <p:nvPr/>
        </p:nvSpPr>
        <p:spPr>
          <a:xfrm>
            <a:off x="1527048" y="5806440"/>
            <a:ext cx="9400032" cy="0"/>
          </a:xfrm>
          <a:prstGeom prst="rect">
            <a:avLst/>
          </a:prstGeom>
          <a:noFill/>
        </p:spPr>
        <p:txBody>
          <a:bodyPr wrap="square">
            <a:spAutoFit/>
          </a:bodyPr>
          <a:lstStyle/>
          <a:p>
            <a:pPr>
              <a:defRPr sz="1150">
                <a:solidFill>
                  <a:srgbClr val="52606B"/>
                </a:solidFill>
              </a:defRPr>
            </a:pPr>
            <a:r>
              <a:t>Use cost trends and unusual changes to identify resources needing investigation.</a:t>
            </a:r>
          </a:p>
        </p:txBody>
      </p:sp>
      <p:sp>
        <p:nvSpPr>
          <p:cNvPr id="34" name="TextBox 33"/>
          <p:cNvSpPr txBox="1"/>
          <p:nvPr/>
        </p:nvSpPr>
        <p:spPr>
          <a:xfrm>
            <a:off x="11567160" y="6446520"/>
            <a:ext cx="365760" cy="228600"/>
          </a:xfrm>
          <a:prstGeom prst="rect">
            <a:avLst/>
          </a:prstGeom>
          <a:noFill/>
        </p:spPr>
        <p:txBody>
          <a:bodyPr wrap="none">
            <a:spAutoFit/>
          </a:bodyPr>
          <a:lstStyle/>
          <a:p>
            <a:pPr algn="r">
              <a:defRPr sz="900">
                <a:solidFill>
                  <a:srgbClr val="52606B"/>
                </a:solidFill>
              </a:defRPr>
            </a:pPr>
            <a:r>
              <a:t>09</a:t>
            </a:r>
          </a:p>
        </p:txBody>
      </p:sp>
      <p:sp>
        <p:nvSpPr>
          <p:cNvPr id="35" name="Rectangle 34"/>
          <p:cNvSpPr/>
          <p:nvPr/>
        </p:nvSpPr>
        <p:spPr>
          <a:xfrm>
            <a:off x="640080" y="6199632"/>
            <a:ext cx="10927080" cy="13716"/>
          </a:xfrm>
          <a:prstGeom prst="rect">
            <a:avLst/>
          </a:prstGeom>
          <a:solidFill>
            <a:srgbClr val="DAE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5943600" cy="274320"/>
          </a:xfrm>
          <a:prstGeom prst="rect">
            <a:avLst/>
          </a:prstGeom>
          <a:noFill/>
        </p:spPr>
        <p:txBody>
          <a:bodyPr wrap="none">
            <a:spAutoFit/>
          </a:bodyPr>
          <a:lstStyle/>
          <a:p>
            <a:pPr>
              <a:defRPr sz="1000" b="1">
                <a:solidFill>
                  <a:srgbClr val="2C7E9D"/>
                </a:solidFill>
              </a:defRPr>
            </a:pPr>
            <a:r>
              <a:t>MONTHLY ANALYSIS</a:t>
            </a:r>
          </a:p>
        </p:txBody>
      </p:sp>
      <p:sp>
        <p:nvSpPr>
          <p:cNvPr id="3" name="TextBox 2"/>
          <p:cNvSpPr txBox="1"/>
          <p:nvPr/>
        </p:nvSpPr>
        <p:spPr>
          <a:xfrm>
            <a:off x="640080" y="658368"/>
            <a:ext cx="10789920" cy="685800"/>
          </a:xfrm>
          <a:prstGeom prst="rect">
            <a:avLst/>
          </a:prstGeom>
          <a:noFill/>
        </p:spPr>
        <p:txBody>
          <a:bodyPr wrap="none">
            <a:spAutoFit/>
          </a:bodyPr>
          <a:lstStyle/>
          <a:p>
            <a:pPr>
              <a:defRPr sz="2900" b="1">
                <a:solidFill>
                  <a:srgbClr val="1F2A32"/>
                </a:solidFill>
              </a:defRPr>
            </a:pPr>
            <a:r>
              <a:t>Identify the top five cost drivers</a:t>
            </a:r>
          </a:p>
        </p:txBody>
      </p:sp>
      <p:sp>
        <p:nvSpPr>
          <p:cNvPr id="4" name="Rectangle 3"/>
          <p:cNvSpPr/>
          <p:nvPr/>
        </p:nvSpPr>
        <p:spPr>
          <a:xfrm>
            <a:off x="685800" y="1828800"/>
            <a:ext cx="685800" cy="502920"/>
          </a:xfrm>
          <a:prstGeom prst="rect">
            <a:avLst/>
          </a:prstGeom>
          <a:solidFill>
            <a:srgbClr val="144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Rank</a:t>
            </a:r>
          </a:p>
        </p:txBody>
      </p:sp>
      <p:sp>
        <p:nvSpPr>
          <p:cNvPr id="5" name="Rectangle 4"/>
          <p:cNvSpPr/>
          <p:nvPr/>
        </p:nvSpPr>
        <p:spPr>
          <a:xfrm>
            <a:off x="1554480" y="1828800"/>
            <a:ext cx="3749039" cy="502920"/>
          </a:xfrm>
          <a:prstGeom prst="rect">
            <a:avLst/>
          </a:prstGeom>
          <a:solidFill>
            <a:srgbClr val="144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Cost driver</a:t>
            </a:r>
          </a:p>
        </p:txBody>
      </p:sp>
      <p:sp>
        <p:nvSpPr>
          <p:cNvPr id="6" name="Rectangle 5"/>
          <p:cNvSpPr/>
          <p:nvPr/>
        </p:nvSpPr>
        <p:spPr>
          <a:xfrm>
            <a:off x="5486400" y="1828800"/>
            <a:ext cx="5715000" cy="502920"/>
          </a:xfrm>
          <a:prstGeom prst="rect">
            <a:avLst/>
          </a:prstGeom>
          <a:solidFill>
            <a:srgbClr val="144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What to inspect</a:t>
            </a:r>
          </a:p>
        </p:txBody>
      </p:sp>
      <p:sp>
        <p:nvSpPr>
          <p:cNvPr id="7" name="Rectangle 6"/>
          <p:cNvSpPr/>
          <p:nvPr/>
        </p:nvSpPr>
        <p:spPr>
          <a:xfrm>
            <a:off x="685800" y="2331720"/>
            <a:ext cx="685800" cy="594360"/>
          </a:xfrm>
          <a:prstGeom prst="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a:solidFill>
                  <a:srgbClr val="1F2A32"/>
                </a:solidFill>
              </a:defRPr>
            </a:pPr>
            <a:r>
              <a:t>1</a:t>
            </a:r>
          </a:p>
        </p:txBody>
      </p:sp>
      <p:sp>
        <p:nvSpPr>
          <p:cNvPr id="8" name="Rectangle 7"/>
          <p:cNvSpPr/>
          <p:nvPr/>
        </p:nvSpPr>
        <p:spPr>
          <a:xfrm>
            <a:off x="1554480" y="2331720"/>
            <a:ext cx="3749039" cy="594360"/>
          </a:xfrm>
          <a:prstGeom prst="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a:solidFill>
                  <a:srgbClr val="1F2A32"/>
                </a:solidFill>
              </a:defRPr>
            </a:pPr>
            <a:r>
              <a:t>Example: Virtual Machines</a:t>
            </a:r>
          </a:p>
        </p:txBody>
      </p:sp>
      <p:sp>
        <p:nvSpPr>
          <p:cNvPr id="9" name="Rectangle 8"/>
          <p:cNvSpPr/>
          <p:nvPr/>
        </p:nvSpPr>
        <p:spPr>
          <a:xfrm>
            <a:off x="5486400" y="2331720"/>
            <a:ext cx="5715000" cy="594360"/>
          </a:xfrm>
          <a:prstGeom prst="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a:solidFill>
                  <a:srgbClr val="1F2A32"/>
                </a:solidFill>
              </a:defRPr>
            </a:pPr>
            <a:r>
              <a:t>VM size, running hours, idle instances</a:t>
            </a:r>
          </a:p>
        </p:txBody>
      </p:sp>
      <p:sp>
        <p:nvSpPr>
          <p:cNvPr id="10" name="Rectangle 9"/>
          <p:cNvSpPr/>
          <p:nvPr/>
        </p:nvSpPr>
        <p:spPr>
          <a:xfrm>
            <a:off x="685800" y="2926079"/>
            <a:ext cx="685800" cy="594360"/>
          </a:xfrm>
          <a:prstGeom prst="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a:solidFill>
                  <a:srgbClr val="1F2A32"/>
                </a:solidFill>
              </a:defRPr>
            </a:pPr>
            <a:r>
              <a:t>2</a:t>
            </a:r>
          </a:p>
        </p:txBody>
      </p:sp>
      <p:sp>
        <p:nvSpPr>
          <p:cNvPr id="11" name="Rectangle 10"/>
          <p:cNvSpPr/>
          <p:nvPr/>
        </p:nvSpPr>
        <p:spPr>
          <a:xfrm>
            <a:off x="1554480" y="2926079"/>
            <a:ext cx="3749039" cy="594360"/>
          </a:xfrm>
          <a:prstGeom prst="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a:solidFill>
                  <a:srgbClr val="1F2A32"/>
                </a:solidFill>
              </a:defRPr>
            </a:pPr>
            <a:r>
              <a:t>Example: Storage</a:t>
            </a:r>
          </a:p>
        </p:txBody>
      </p:sp>
      <p:sp>
        <p:nvSpPr>
          <p:cNvPr id="12" name="Rectangle 11"/>
          <p:cNvSpPr/>
          <p:nvPr/>
        </p:nvSpPr>
        <p:spPr>
          <a:xfrm>
            <a:off x="5486400" y="2926079"/>
            <a:ext cx="5715000" cy="594360"/>
          </a:xfrm>
          <a:prstGeom prst="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a:solidFill>
                  <a:srgbClr val="1F2A32"/>
                </a:solidFill>
              </a:defRPr>
            </a:pPr>
            <a:r>
              <a:t>Capacity growth, transactions, snapshots</a:t>
            </a:r>
          </a:p>
        </p:txBody>
      </p:sp>
      <p:sp>
        <p:nvSpPr>
          <p:cNvPr id="13" name="Rectangle 12"/>
          <p:cNvSpPr/>
          <p:nvPr/>
        </p:nvSpPr>
        <p:spPr>
          <a:xfrm>
            <a:off x="685800" y="3520439"/>
            <a:ext cx="685800" cy="594360"/>
          </a:xfrm>
          <a:prstGeom prst="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a:solidFill>
                  <a:srgbClr val="1F2A32"/>
                </a:solidFill>
              </a:defRPr>
            </a:pPr>
            <a:r>
              <a:t>3</a:t>
            </a:r>
          </a:p>
        </p:txBody>
      </p:sp>
      <p:sp>
        <p:nvSpPr>
          <p:cNvPr id="14" name="Rectangle 13"/>
          <p:cNvSpPr/>
          <p:nvPr/>
        </p:nvSpPr>
        <p:spPr>
          <a:xfrm>
            <a:off x="1554480" y="3520439"/>
            <a:ext cx="3749039" cy="594360"/>
          </a:xfrm>
          <a:prstGeom prst="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a:solidFill>
                  <a:srgbClr val="1F2A32"/>
                </a:solidFill>
              </a:defRPr>
            </a:pPr>
            <a:r>
              <a:t>Example: Database</a:t>
            </a:r>
          </a:p>
        </p:txBody>
      </p:sp>
      <p:sp>
        <p:nvSpPr>
          <p:cNvPr id="15" name="Rectangle 14"/>
          <p:cNvSpPr/>
          <p:nvPr/>
        </p:nvSpPr>
        <p:spPr>
          <a:xfrm>
            <a:off x="5486400" y="3520439"/>
            <a:ext cx="5715000" cy="594360"/>
          </a:xfrm>
          <a:prstGeom prst="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a:solidFill>
                  <a:srgbClr val="1F2A32"/>
                </a:solidFill>
              </a:defRPr>
            </a:pPr>
            <a:r>
              <a:t>Tier, compute hours, provisioned capacity</a:t>
            </a:r>
          </a:p>
        </p:txBody>
      </p:sp>
      <p:sp>
        <p:nvSpPr>
          <p:cNvPr id="16" name="Rectangle 15"/>
          <p:cNvSpPr/>
          <p:nvPr/>
        </p:nvSpPr>
        <p:spPr>
          <a:xfrm>
            <a:off x="685800" y="4114800"/>
            <a:ext cx="685800" cy="594360"/>
          </a:xfrm>
          <a:prstGeom prst="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a:solidFill>
                  <a:srgbClr val="1F2A32"/>
                </a:solidFill>
              </a:defRPr>
            </a:pPr>
            <a:r>
              <a:t>4</a:t>
            </a:r>
          </a:p>
        </p:txBody>
      </p:sp>
      <p:sp>
        <p:nvSpPr>
          <p:cNvPr id="17" name="Rectangle 16"/>
          <p:cNvSpPr/>
          <p:nvPr/>
        </p:nvSpPr>
        <p:spPr>
          <a:xfrm>
            <a:off x="1554480" y="4114800"/>
            <a:ext cx="3749039" cy="594360"/>
          </a:xfrm>
          <a:prstGeom prst="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a:solidFill>
                  <a:srgbClr val="1F2A32"/>
                </a:solidFill>
              </a:defRPr>
            </a:pPr>
            <a:r>
              <a:t>Example: Networking</a:t>
            </a:r>
          </a:p>
        </p:txBody>
      </p:sp>
      <p:sp>
        <p:nvSpPr>
          <p:cNvPr id="18" name="Rectangle 17"/>
          <p:cNvSpPr/>
          <p:nvPr/>
        </p:nvSpPr>
        <p:spPr>
          <a:xfrm>
            <a:off x="5486400" y="4114800"/>
            <a:ext cx="5715000" cy="594360"/>
          </a:xfrm>
          <a:prstGeom prst="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a:solidFill>
                  <a:srgbClr val="1F2A32"/>
                </a:solidFill>
              </a:defRPr>
            </a:pPr>
            <a:r>
              <a:t>Data transfer and unnecessary traffic</a:t>
            </a:r>
          </a:p>
        </p:txBody>
      </p:sp>
      <p:sp>
        <p:nvSpPr>
          <p:cNvPr id="19" name="Rectangle 18"/>
          <p:cNvSpPr/>
          <p:nvPr/>
        </p:nvSpPr>
        <p:spPr>
          <a:xfrm>
            <a:off x="685800" y="4709160"/>
            <a:ext cx="685800" cy="594360"/>
          </a:xfrm>
          <a:prstGeom prst="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a:solidFill>
                  <a:srgbClr val="1F2A32"/>
                </a:solidFill>
              </a:defRPr>
            </a:pPr>
            <a:r>
              <a:t>5</a:t>
            </a:r>
          </a:p>
        </p:txBody>
      </p:sp>
      <p:sp>
        <p:nvSpPr>
          <p:cNvPr id="20" name="Rectangle 19"/>
          <p:cNvSpPr/>
          <p:nvPr/>
        </p:nvSpPr>
        <p:spPr>
          <a:xfrm>
            <a:off x="1554480" y="4709160"/>
            <a:ext cx="3749039" cy="594360"/>
          </a:xfrm>
          <a:prstGeom prst="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a:solidFill>
                  <a:srgbClr val="1F2A32"/>
                </a:solidFill>
              </a:defRPr>
            </a:pPr>
            <a:r>
              <a:t>Example: Other services</a:t>
            </a:r>
          </a:p>
        </p:txBody>
      </p:sp>
      <p:sp>
        <p:nvSpPr>
          <p:cNvPr id="21" name="Rectangle 20"/>
          <p:cNvSpPr/>
          <p:nvPr/>
        </p:nvSpPr>
        <p:spPr>
          <a:xfrm>
            <a:off x="5486400" y="4709160"/>
            <a:ext cx="5715000" cy="594360"/>
          </a:xfrm>
          <a:prstGeom prst="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a:solidFill>
                  <a:srgbClr val="1F2A32"/>
                </a:solidFill>
              </a:defRPr>
            </a:pPr>
            <a:r>
              <a:t>Unexpected deployments or configuration changes</a:t>
            </a:r>
          </a:p>
        </p:txBody>
      </p:sp>
      <p:sp>
        <p:nvSpPr>
          <p:cNvPr id="22" name="TextBox 21"/>
          <p:cNvSpPr txBox="1"/>
          <p:nvPr/>
        </p:nvSpPr>
        <p:spPr>
          <a:xfrm>
            <a:off x="731520" y="5486400"/>
            <a:ext cx="10424160" cy="365760"/>
          </a:xfrm>
          <a:prstGeom prst="rect">
            <a:avLst/>
          </a:prstGeom>
          <a:noFill/>
        </p:spPr>
        <p:txBody>
          <a:bodyPr wrap="none">
            <a:spAutoFit/>
          </a:bodyPr>
          <a:lstStyle/>
          <a:p>
            <a:pPr>
              <a:defRPr sz="1400"/>
            </a:pPr>
            <a:r>
              <a:t>Current implementation: Cost Analysis is configured as “Monthly Cost by Service”. The new student subscription currently has no reported billable cost data, so no real top-five values are shown yet.</a:t>
            </a:r>
          </a:p>
        </p:txBody>
      </p:sp>
      <p:sp>
        <p:nvSpPr>
          <p:cNvPr id="23" name="TextBox 22"/>
          <p:cNvSpPr txBox="1"/>
          <p:nvPr/>
        </p:nvSpPr>
        <p:spPr>
          <a:xfrm>
            <a:off x="11567160" y="6446520"/>
            <a:ext cx="365760" cy="228600"/>
          </a:xfrm>
          <a:prstGeom prst="rect">
            <a:avLst/>
          </a:prstGeom>
          <a:noFill/>
        </p:spPr>
        <p:txBody>
          <a:bodyPr wrap="none">
            <a:spAutoFit/>
          </a:bodyPr>
          <a:lstStyle/>
          <a:p>
            <a:pPr algn="r">
              <a:defRPr sz="900">
                <a:solidFill>
                  <a:srgbClr val="52606B"/>
                </a:solidFill>
              </a:defRPr>
            </a:pPr>
            <a:r>
              <a:t>10</a:t>
            </a:r>
          </a:p>
        </p:txBody>
      </p:sp>
      <p:sp>
        <p:nvSpPr>
          <p:cNvPr id="24" name="Rectangle 23"/>
          <p:cNvSpPr/>
          <p:nvPr/>
        </p:nvSpPr>
        <p:spPr>
          <a:xfrm>
            <a:off x="640080" y="6199632"/>
            <a:ext cx="10927080" cy="13716"/>
          </a:xfrm>
          <a:prstGeom prst="rect">
            <a:avLst/>
          </a:prstGeom>
          <a:solidFill>
            <a:srgbClr val="DAE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5943600" cy="274320"/>
          </a:xfrm>
          <a:prstGeom prst="rect">
            <a:avLst/>
          </a:prstGeom>
          <a:noFill/>
        </p:spPr>
        <p:txBody>
          <a:bodyPr wrap="none">
            <a:spAutoFit/>
          </a:bodyPr>
          <a:lstStyle/>
          <a:p>
            <a:pPr>
              <a:defRPr sz="1000" b="1">
                <a:solidFill>
                  <a:srgbClr val="2C7E9D"/>
                </a:solidFill>
              </a:defRPr>
            </a:pPr>
            <a:r>
              <a:t>OUTCOME &amp; REFLECTION</a:t>
            </a:r>
          </a:p>
        </p:txBody>
      </p:sp>
      <p:sp>
        <p:nvSpPr>
          <p:cNvPr id="3" name="TextBox 2"/>
          <p:cNvSpPr txBox="1"/>
          <p:nvPr/>
        </p:nvSpPr>
        <p:spPr>
          <a:xfrm>
            <a:off x="640080" y="658368"/>
            <a:ext cx="10789920" cy="685800"/>
          </a:xfrm>
          <a:prstGeom prst="rect">
            <a:avLst/>
          </a:prstGeom>
          <a:noFill/>
        </p:spPr>
        <p:txBody>
          <a:bodyPr wrap="none">
            <a:spAutoFit/>
          </a:bodyPr>
          <a:lstStyle/>
          <a:p>
            <a:pPr>
              <a:defRPr sz="2900" b="1">
                <a:solidFill>
                  <a:srgbClr val="1F2A32"/>
                </a:solidFill>
              </a:defRPr>
            </a:pPr>
            <a:r>
              <a:t>What the project gives the team</a:t>
            </a:r>
          </a:p>
        </p:txBody>
      </p:sp>
      <p:sp>
        <p:nvSpPr>
          <p:cNvPr id="4" name="Rounded Rectangle 3"/>
          <p:cNvSpPr/>
          <p:nvPr/>
        </p:nvSpPr>
        <p:spPr>
          <a:xfrm>
            <a:off x="685800" y="1783080"/>
            <a:ext cx="3429000" cy="141732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783080"/>
            <a:ext cx="64008" cy="1417320"/>
          </a:xfrm>
          <a:prstGeom prst="rect">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947672"/>
            <a:ext cx="3063240" cy="384048"/>
          </a:xfrm>
          <a:prstGeom prst="rect">
            <a:avLst/>
          </a:prstGeom>
          <a:noFill/>
        </p:spPr>
        <p:txBody>
          <a:bodyPr wrap="none">
            <a:spAutoFit/>
          </a:bodyPr>
          <a:lstStyle/>
          <a:p>
            <a:pPr>
              <a:defRPr sz="1500" b="1">
                <a:solidFill>
                  <a:srgbClr val="1F2A32"/>
                </a:solidFill>
              </a:defRPr>
            </a:pPr>
            <a:r>
              <a:t>Budget control</a:t>
            </a:r>
          </a:p>
        </p:txBody>
      </p:sp>
      <p:sp>
        <p:nvSpPr>
          <p:cNvPr id="7" name="TextBox 6"/>
          <p:cNvSpPr txBox="1"/>
          <p:nvPr/>
        </p:nvSpPr>
        <p:spPr>
          <a:xfrm>
            <a:off x="886968" y="2404872"/>
            <a:ext cx="3044952" cy="640080"/>
          </a:xfrm>
          <a:prstGeom prst="rect">
            <a:avLst/>
          </a:prstGeom>
          <a:noFill/>
        </p:spPr>
        <p:txBody>
          <a:bodyPr wrap="square">
            <a:spAutoFit/>
          </a:bodyPr>
          <a:lstStyle/>
          <a:p>
            <a:pPr>
              <a:defRPr sz="1150">
                <a:solidFill>
                  <a:srgbClr val="52606B"/>
                </a:solidFill>
              </a:defRPr>
            </a:pPr>
            <a:r>
              <a:t>A defined spending target with threshold-based notifications.</a:t>
            </a:r>
          </a:p>
        </p:txBody>
      </p:sp>
      <p:sp>
        <p:nvSpPr>
          <p:cNvPr id="8" name="Rounded Rectangle 7"/>
          <p:cNvSpPr/>
          <p:nvPr/>
        </p:nvSpPr>
        <p:spPr>
          <a:xfrm>
            <a:off x="4389120" y="1783080"/>
            <a:ext cx="3429000" cy="141732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89120" y="1783080"/>
            <a:ext cx="64008" cy="1417320"/>
          </a:xfrm>
          <a:prstGeom prst="rect">
            <a:avLst/>
          </a:prstGeom>
          <a:solidFill>
            <a:srgbClr val="408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90288" y="1947672"/>
            <a:ext cx="3063240" cy="384048"/>
          </a:xfrm>
          <a:prstGeom prst="rect">
            <a:avLst/>
          </a:prstGeom>
          <a:noFill/>
        </p:spPr>
        <p:txBody>
          <a:bodyPr wrap="none">
            <a:spAutoFit/>
          </a:bodyPr>
          <a:lstStyle/>
          <a:p>
            <a:pPr>
              <a:defRPr sz="1500" b="1">
                <a:solidFill>
                  <a:srgbClr val="1F2A32"/>
                </a:solidFill>
              </a:defRPr>
            </a:pPr>
            <a:r>
              <a:t>Cost visibility</a:t>
            </a:r>
          </a:p>
        </p:txBody>
      </p:sp>
      <p:sp>
        <p:nvSpPr>
          <p:cNvPr id="11" name="TextBox 10"/>
          <p:cNvSpPr txBox="1"/>
          <p:nvPr/>
        </p:nvSpPr>
        <p:spPr>
          <a:xfrm>
            <a:off x="4590288" y="2404872"/>
            <a:ext cx="3044952" cy="640080"/>
          </a:xfrm>
          <a:prstGeom prst="rect">
            <a:avLst/>
          </a:prstGeom>
          <a:noFill/>
        </p:spPr>
        <p:txBody>
          <a:bodyPr wrap="square">
            <a:spAutoFit/>
          </a:bodyPr>
          <a:lstStyle/>
          <a:p>
            <a:pPr>
              <a:defRPr sz="1150">
                <a:solidFill>
                  <a:srgbClr val="52606B"/>
                </a:solidFill>
              </a:defRPr>
            </a:pPr>
            <a:r>
              <a:t>A monthly view of where the subscription money is going.</a:t>
            </a:r>
          </a:p>
        </p:txBody>
      </p:sp>
      <p:sp>
        <p:nvSpPr>
          <p:cNvPr id="12" name="Rounded Rectangle 11"/>
          <p:cNvSpPr/>
          <p:nvPr/>
        </p:nvSpPr>
        <p:spPr>
          <a:xfrm>
            <a:off x="8092440" y="1783080"/>
            <a:ext cx="3429000" cy="141732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92440" y="1783080"/>
            <a:ext cx="64008" cy="1417320"/>
          </a:xfrm>
          <a:prstGeom prst="rect">
            <a:avLst/>
          </a:prstGeom>
          <a:solidFill>
            <a:srgbClr val="CD8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93608" y="1947672"/>
            <a:ext cx="3063240" cy="384048"/>
          </a:xfrm>
          <a:prstGeom prst="rect">
            <a:avLst/>
          </a:prstGeom>
          <a:noFill/>
        </p:spPr>
        <p:txBody>
          <a:bodyPr wrap="none">
            <a:spAutoFit/>
          </a:bodyPr>
          <a:lstStyle/>
          <a:p>
            <a:pPr>
              <a:defRPr sz="1500" b="1">
                <a:solidFill>
                  <a:srgbClr val="1F2A32"/>
                </a:solidFill>
              </a:defRPr>
            </a:pPr>
            <a:r>
              <a:t>Ownership</a:t>
            </a:r>
          </a:p>
        </p:txBody>
      </p:sp>
      <p:sp>
        <p:nvSpPr>
          <p:cNvPr id="15" name="TextBox 14"/>
          <p:cNvSpPr txBox="1"/>
          <p:nvPr/>
        </p:nvSpPr>
        <p:spPr>
          <a:xfrm>
            <a:off x="8293608" y="2404872"/>
            <a:ext cx="3044952" cy="640080"/>
          </a:xfrm>
          <a:prstGeom prst="rect">
            <a:avLst/>
          </a:prstGeom>
          <a:noFill/>
        </p:spPr>
        <p:txBody>
          <a:bodyPr wrap="square">
            <a:spAutoFit/>
          </a:bodyPr>
          <a:lstStyle/>
          <a:p>
            <a:pPr>
              <a:defRPr sz="1150">
                <a:solidFill>
                  <a:srgbClr val="52606B"/>
                </a:solidFill>
              </a:defRPr>
            </a:pPr>
            <a:r>
              <a:t>Tags make it easier to connect resources with teams and projects.</a:t>
            </a:r>
          </a:p>
        </p:txBody>
      </p:sp>
      <p:sp>
        <p:nvSpPr>
          <p:cNvPr id="16" name="Rounded Rectangle 15"/>
          <p:cNvSpPr/>
          <p:nvPr/>
        </p:nvSpPr>
        <p:spPr>
          <a:xfrm>
            <a:off x="685800" y="3520440"/>
            <a:ext cx="3429000" cy="141732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85800" y="3520440"/>
            <a:ext cx="64008" cy="1417320"/>
          </a:xfrm>
          <a:prstGeom prst="rect">
            <a:avLst/>
          </a:prstGeom>
          <a:solidFill>
            <a:srgbClr val="B0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6968" y="3685032"/>
            <a:ext cx="3063240" cy="384048"/>
          </a:xfrm>
          <a:prstGeom prst="rect">
            <a:avLst/>
          </a:prstGeom>
          <a:noFill/>
        </p:spPr>
        <p:txBody>
          <a:bodyPr wrap="none">
            <a:spAutoFit/>
          </a:bodyPr>
          <a:lstStyle/>
          <a:p>
            <a:pPr>
              <a:defRPr sz="1500" b="1">
                <a:solidFill>
                  <a:srgbClr val="1F2A32"/>
                </a:solidFill>
              </a:defRPr>
            </a:pPr>
            <a:r>
              <a:t>Anomaly investigation</a:t>
            </a:r>
          </a:p>
        </p:txBody>
      </p:sp>
      <p:sp>
        <p:nvSpPr>
          <p:cNvPr id="19" name="TextBox 18"/>
          <p:cNvSpPr txBox="1"/>
          <p:nvPr/>
        </p:nvSpPr>
        <p:spPr>
          <a:xfrm>
            <a:off x="886968" y="4142232"/>
            <a:ext cx="3044952" cy="640080"/>
          </a:xfrm>
          <a:prstGeom prst="rect">
            <a:avLst/>
          </a:prstGeom>
          <a:noFill/>
        </p:spPr>
        <p:txBody>
          <a:bodyPr wrap="square">
            <a:spAutoFit/>
          </a:bodyPr>
          <a:lstStyle/>
          <a:p>
            <a:pPr>
              <a:defRPr sz="1150">
                <a:solidFill>
                  <a:srgbClr val="52606B"/>
                </a:solidFill>
              </a:defRPr>
            </a:pPr>
            <a:r>
              <a:t>Unusual changes become review items instead of remaining hidden.</a:t>
            </a:r>
          </a:p>
        </p:txBody>
      </p:sp>
      <p:sp>
        <p:nvSpPr>
          <p:cNvPr id="20" name="Rounded Rectangle 19"/>
          <p:cNvSpPr/>
          <p:nvPr/>
        </p:nvSpPr>
        <p:spPr>
          <a:xfrm>
            <a:off x="4389120" y="3520440"/>
            <a:ext cx="3429000" cy="141732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3520440"/>
            <a:ext cx="64008" cy="1417320"/>
          </a:xfrm>
          <a:prstGeom prst="rect">
            <a:avLst/>
          </a:prstGeom>
          <a:solidFill>
            <a:srgbClr val="144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90288" y="3685032"/>
            <a:ext cx="3063240" cy="384048"/>
          </a:xfrm>
          <a:prstGeom prst="rect">
            <a:avLst/>
          </a:prstGeom>
          <a:noFill/>
        </p:spPr>
        <p:txBody>
          <a:bodyPr wrap="none">
            <a:spAutoFit/>
          </a:bodyPr>
          <a:lstStyle/>
          <a:p>
            <a:pPr>
              <a:defRPr sz="1500" b="1">
                <a:solidFill>
                  <a:srgbClr val="1F2A32"/>
                </a:solidFill>
              </a:defRPr>
            </a:pPr>
            <a:r>
              <a:t>Student constraint</a:t>
            </a:r>
          </a:p>
        </p:txBody>
      </p:sp>
      <p:sp>
        <p:nvSpPr>
          <p:cNvPr id="23" name="TextBox 22"/>
          <p:cNvSpPr txBox="1"/>
          <p:nvPr/>
        </p:nvSpPr>
        <p:spPr>
          <a:xfrm>
            <a:off x="4590288" y="4142232"/>
            <a:ext cx="3044952" cy="640080"/>
          </a:xfrm>
          <a:prstGeom prst="rect">
            <a:avLst/>
          </a:prstGeom>
          <a:noFill/>
        </p:spPr>
        <p:txBody>
          <a:bodyPr wrap="square">
            <a:spAutoFit/>
          </a:bodyPr>
          <a:lstStyle/>
          <a:p>
            <a:pPr>
              <a:defRPr sz="1150">
                <a:solidFill>
                  <a:srgbClr val="52606B"/>
                </a:solidFill>
              </a:defRPr>
            </a:pPr>
            <a:r>
              <a:t>Keep test resources small, short-lived and within the credit limit.</a:t>
            </a:r>
          </a:p>
        </p:txBody>
      </p:sp>
      <p:sp>
        <p:nvSpPr>
          <p:cNvPr id="24" name="Rounded Rectangle 23"/>
          <p:cNvSpPr/>
          <p:nvPr/>
        </p:nvSpPr>
        <p:spPr>
          <a:xfrm>
            <a:off x="8092440" y="3520440"/>
            <a:ext cx="3429000" cy="1417320"/>
          </a:xfrm>
          <a:prstGeom prst="roundRect">
            <a:avLst/>
          </a:prstGeom>
          <a:solidFill>
            <a:srgbClr val="F1F5F7"/>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092440" y="3520440"/>
            <a:ext cx="64008" cy="1417320"/>
          </a:xfrm>
          <a:prstGeom prst="rect">
            <a:avLst/>
          </a:prstGeom>
          <a:solidFill>
            <a:srgbClr val="2C7E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93608" y="3685032"/>
            <a:ext cx="3063240" cy="384048"/>
          </a:xfrm>
          <a:prstGeom prst="rect">
            <a:avLst/>
          </a:prstGeom>
          <a:noFill/>
        </p:spPr>
        <p:txBody>
          <a:bodyPr wrap="none">
            <a:spAutoFit/>
          </a:bodyPr>
          <a:lstStyle/>
          <a:p>
            <a:pPr>
              <a:defRPr sz="1500" b="1">
                <a:solidFill>
                  <a:srgbClr val="1F2A32"/>
                </a:solidFill>
              </a:defRPr>
            </a:pPr>
            <a:r>
              <a:t>Evidence</a:t>
            </a:r>
          </a:p>
        </p:txBody>
      </p:sp>
      <p:sp>
        <p:nvSpPr>
          <p:cNvPr id="27" name="TextBox 26"/>
          <p:cNvSpPr txBox="1"/>
          <p:nvPr/>
        </p:nvSpPr>
        <p:spPr>
          <a:xfrm>
            <a:off x="8293608" y="4142232"/>
            <a:ext cx="3044952" cy="640080"/>
          </a:xfrm>
          <a:prstGeom prst="rect">
            <a:avLst/>
          </a:prstGeom>
          <a:noFill/>
        </p:spPr>
        <p:txBody>
          <a:bodyPr wrap="square">
            <a:spAutoFit/>
          </a:bodyPr>
          <a:lstStyle/>
          <a:p>
            <a:pPr>
              <a:defRPr sz="1150">
                <a:solidFill>
                  <a:srgbClr val="52606B"/>
                </a:solidFill>
              </a:defRPr>
            </a:pPr>
            <a:r>
              <a:t>Capture portal screenshots of budgets, alerts, tags and cost analysis.</a:t>
            </a:r>
          </a:p>
        </p:txBody>
      </p:sp>
      <p:sp>
        <p:nvSpPr>
          <p:cNvPr id="28" name="TextBox 27"/>
          <p:cNvSpPr txBox="1"/>
          <p:nvPr/>
        </p:nvSpPr>
        <p:spPr>
          <a:xfrm>
            <a:off x="11567160" y="6446520"/>
            <a:ext cx="365760" cy="228600"/>
          </a:xfrm>
          <a:prstGeom prst="rect">
            <a:avLst/>
          </a:prstGeom>
          <a:noFill/>
        </p:spPr>
        <p:txBody>
          <a:bodyPr wrap="none">
            <a:spAutoFit/>
          </a:bodyPr>
          <a:lstStyle/>
          <a:p>
            <a:pPr algn="r">
              <a:defRPr sz="900">
                <a:solidFill>
                  <a:srgbClr val="52606B"/>
                </a:solidFill>
              </a:defRPr>
            </a:pPr>
            <a:r>
              <a:t>11</a:t>
            </a:r>
          </a:p>
        </p:txBody>
      </p:sp>
      <p:sp>
        <p:nvSpPr>
          <p:cNvPr id="29" name="Rectangle 28"/>
          <p:cNvSpPr/>
          <p:nvPr/>
        </p:nvSpPr>
        <p:spPr>
          <a:xfrm>
            <a:off x="640080" y="6199632"/>
            <a:ext cx="10927080" cy="13716"/>
          </a:xfrm>
          <a:prstGeom prst="rect">
            <a:avLst/>
          </a:prstGeom>
          <a:solidFill>
            <a:srgbClr val="DAE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3657600" cy="274320"/>
          </a:xfrm>
          <a:prstGeom prst="rect">
            <a:avLst/>
          </a:prstGeom>
          <a:noFill/>
        </p:spPr>
        <p:txBody>
          <a:bodyPr wrap="square">
            <a:spAutoFit/>
          </a:bodyPr>
          <a:lstStyle/>
          <a:p>
            <a:pPr algn="l">
              <a:defRPr sz="1000" b="1">
                <a:solidFill>
                  <a:srgbClr val="2C7E9D"/>
                </a:solidFill>
              </a:defRPr>
            </a:pPr>
            <a:r>
              <a:t>CONCLUSION</a:t>
            </a:r>
          </a:p>
        </p:txBody>
      </p:sp>
      <p:sp>
        <p:nvSpPr>
          <p:cNvPr id="3" name="TextBox 2"/>
          <p:cNvSpPr txBox="1"/>
          <p:nvPr/>
        </p:nvSpPr>
        <p:spPr>
          <a:xfrm>
            <a:off x="640080" y="731520"/>
            <a:ext cx="10698480" cy="731520"/>
          </a:xfrm>
          <a:prstGeom prst="rect">
            <a:avLst/>
          </a:prstGeom>
          <a:noFill/>
        </p:spPr>
        <p:txBody>
          <a:bodyPr wrap="square">
            <a:spAutoFit/>
          </a:bodyPr>
          <a:lstStyle/>
          <a:p>
            <a:pPr algn="l">
              <a:defRPr sz="2900" b="1">
                <a:solidFill>
                  <a:srgbClr val="1F2A32"/>
                </a:solidFill>
              </a:defRPr>
            </a:pPr>
            <a:r>
              <a:t>Turning cloud spending into an actionable feedback loop</a:t>
            </a:r>
          </a:p>
        </p:txBody>
      </p:sp>
      <p:sp>
        <p:nvSpPr>
          <p:cNvPr id="4" name="TextBox 3"/>
          <p:cNvSpPr txBox="1"/>
          <p:nvPr/>
        </p:nvSpPr>
        <p:spPr>
          <a:xfrm>
            <a:off x="822960" y="1828800"/>
            <a:ext cx="10241280" cy="3200400"/>
          </a:xfrm>
          <a:prstGeom prst="rect">
            <a:avLst/>
          </a:prstGeom>
          <a:noFill/>
        </p:spPr>
        <p:txBody>
          <a:bodyPr wrap="square">
            <a:spAutoFit/>
          </a:bodyPr>
          <a:lstStyle/>
          <a:p>
            <a:pPr>
              <a:spcAft>
                <a:spcPts val="1200"/>
              </a:spcAft>
              <a:defRPr sz="1600">
                <a:solidFill>
                  <a:srgbClr val="1F2A32"/>
                </a:solidFill>
              </a:defRPr>
            </a:pPr>
            <a:r>
              <a:t>• Cost Management provides a central view of where Azure spending is occurring.</a:t>
            </a:r>
          </a:p>
          <a:p>
            <a:pPr>
              <a:spcAft>
                <a:spcPts val="1200"/>
              </a:spcAft>
              <a:defRPr sz="1600">
                <a:solidFill>
                  <a:srgbClr val="1F2A32"/>
                </a:solidFill>
              </a:defRPr>
            </a:pPr>
            <a:r>
              <a:t>• Budgets and threshold alerts provide an early signal when spending approaches a planned limit.</a:t>
            </a:r>
          </a:p>
          <a:p>
            <a:pPr>
              <a:spcAft>
                <a:spcPts val="1200"/>
              </a:spcAft>
              <a:defRPr sz="1600">
                <a:solidFill>
                  <a:srgbClr val="1F2A32"/>
                </a:solidFill>
              </a:defRPr>
            </a:pPr>
            <a:r>
              <a:t>• Consistent resource tags improve ownership and make chargeback or team-level analysis easier.</a:t>
            </a:r>
          </a:p>
          <a:p>
            <a:pPr>
              <a:spcAft>
                <a:spcPts val="1200"/>
              </a:spcAft>
              <a:defRPr sz="1600">
                <a:solidFill>
                  <a:srgbClr val="1F2A32"/>
                </a:solidFill>
              </a:defRPr>
            </a:pPr>
            <a:r>
              <a:t>• Monthly Cost Analysis helps the team identify the top five cost drivers and investigate unusual changes.</a:t>
            </a:r>
          </a:p>
          <a:p>
            <a:pPr>
              <a:spcAft>
                <a:spcPts val="1200"/>
              </a:spcAft>
              <a:defRPr sz="1600">
                <a:solidFill>
                  <a:srgbClr val="1F2A32"/>
                </a:solidFill>
              </a:defRPr>
            </a:pPr>
            <a:r>
              <a:t>• For student projects, monitoring is especially important because Azure credits are limited.</a:t>
            </a:r>
          </a:p>
        </p:txBody>
      </p:sp>
      <p:sp>
        <p:nvSpPr>
          <p:cNvPr id="5" name="TextBox 4"/>
          <p:cNvSpPr txBox="1"/>
          <p:nvPr/>
        </p:nvSpPr>
        <p:spPr>
          <a:xfrm>
            <a:off x="914400" y="5394960"/>
            <a:ext cx="10058400" cy="457200"/>
          </a:xfrm>
          <a:prstGeom prst="rect">
            <a:avLst/>
          </a:prstGeom>
          <a:noFill/>
        </p:spPr>
        <p:txBody>
          <a:bodyPr wrap="square">
            <a:spAutoFit/>
          </a:bodyPr>
          <a:lstStyle/>
          <a:p>
            <a:pPr algn="ctr">
              <a:defRPr sz="1500" b="1">
                <a:solidFill>
                  <a:srgbClr val="2C7E9D"/>
                </a:solidFill>
              </a:defRPr>
            </a:pPr>
            <a:r>
              <a:t>Key takeaway: visibility + ownership + alerts enable timely cost-control decisions.</a:t>
            </a:r>
          </a:p>
        </p:txBody>
      </p:sp>
      <p:sp>
        <p:nvSpPr>
          <p:cNvPr id="6" name="TextBox 5"/>
          <p:cNvSpPr txBox="1"/>
          <p:nvPr/>
        </p:nvSpPr>
        <p:spPr>
          <a:xfrm>
            <a:off x="11567160" y="6446520"/>
            <a:ext cx="365760" cy="228600"/>
          </a:xfrm>
          <a:prstGeom prst="rect">
            <a:avLst/>
          </a:prstGeom>
          <a:noFill/>
        </p:spPr>
        <p:txBody>
          <a:bodyPr wrap="square">
            <a:spAutoFit/>
          </a:bodyPr>
          <a:lstStyle/>
          <a:p>
            <a:pPr algn="r">
              <a:defRPr sz="900" b="0">
                <a:solidFill>
                  <a:srgbClr val="52606B"/>
                </a:solidFill>
              </a:defRPr>
            </a:pPr>
            <a:r>
              <a:t>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3657600" cy="274320"/>
          </a:xfrm>
          <a:prstGeom prst="rect">
            <a:avLst/>
          </a:prstGeom>
          <a:noFill/>
        </p:spPr>
        <p:txBody>
          <a:bodyPr wrap="square">
            <a:spAutoFit/>
          </a:bodyPr>
          <a:lstStyle/>
          <a:p>
            <a:pPr algn="l">
              <a:defRPr sz="1000" b="1">
                <a:solidFill>
                  <a:srgbClr val="2C7E9D"/>
                </a:solidFill>
              </a:defRPr>
            </a:pPr>
            <a:r>
              <a:t>THANK YOU</a:t>
            </a:r>
          </a:p>
        </p:txBody>
      </p:sp>
      <p:sp>
        <p:nvSpPr>
          <p:cNvPr id="3" name="TextBox 2"/>
          <p:cNvSpPr txBox="1"/>
          <p:nvPr/>
        </p:nvSpPr>
        <p:spPr>
          <a:xfrm>
            <a:off x="640080" y="1965960"/>
            <a:ext cx="10881360" cy="914400"/>
          </a:xfrm>
          <a:prstGeom prst="rect">
            <a:avLst/>
          </a:prstGeom>
          <a:noFill/>
        </p:spPr>
        <p:txBody>
          <a:bodyPr wrap="square">
            <a:spAutoFit/>
          </a:bodyPr>
          <a:lstStyle/>
          <a:p>
            <a:pPr algn="ctr">
              <a:defRPr sz="4200" b="1">
                <a:solidFill>
                  <a:srgbClr val="1F2A32"/>
                </a:solidFill>
              </a:defRPr>
            </a:pPr>
            <a:r>
              <a:t>Thank You</a:t>
            </a:r>
          </a:p>
        </p:txBody>
      </p:sp>
      <p:sp>
        <p:nvSpPr>
          <p:cNvPr id="4" name="TextBox 3"/>
          <p:cNvSpPr txBox="1"/>
          <p:nvPr/>
        </p:nvSpPr>
        <p:spPr>
          <a:xfrm>
            <a:off x="1828800" y="2963333"/>
            <a:ext cx="8503920" cy="1005840"/>
          </a:xfrm>
          <a:prstGeom prst="rect">
            <a:avLst/>
          </a:prstGeom>
          <a:noFill/>
        </p:spPr>
        <p:txBody>
          <a:bodyPr wrap="square">
            <a:spAutoFit/>
          </a:bodyPr>
          <a:lstStyle/>
          <a:p>
            <a:pPr algn="ctr">
              <a:defRPr sz="2000" b="0">
                <a:solidFill>
                  <a:srgbClr val="52606B"/>
                </a:solidFill>
              </a:defRPr>
            </a:pPr>
            <a:r>
              <a:t>Azure Cost Management</a:t>
            </a:r>
            <a:br/>
            <a:r>
              <a:t>Budget &amp; Anomaly Alerting</a:t>
            </a:r>
          </a:p>
        </p:txBody>
      </p:sp>
      <p:sp>
        <p:nvSpPr>
          <p:cNvPr id="7" name="TextBox 6"/>
          <p:cNvSpPr txBox="1"/>
          <p:nvPr/>
        </p:nvSpPr>
        <p:spPr>
          <a:xfrm>
            <a:off x="11567160" y="6446520"/>
            <a:ext cx="365760" cy="228600"/>
          </a:xfrm>
          <a:prstGeom prst="rect">
            <a:avLst/>
          </a:prstGeom>
          <a:noFill/>
        </p:spPr>
        <p:txBody>
          <a:bodyPr wrap="square">
            <a:spAutoFit/>
          </a:bodyPr>
          <a:lstStyle/>
          <a:p>
            <a:pPr algn="r">
              <a:defRPr sz="900" b="0">
                <a:solidFill>
                  <a:srgbClr val="52606B"/>
                </a:solidFill>
              </a:defRPr>
            </a:pPr>
            <a:r>
              <a:t>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LIVE IMPLEMENTATION — ACTUAL AZURE CONFIGURATION</a:t>
            </a:r>
          </a:p>
        </p:txBody>
      </p:sp>
      <p:graphicFrame>
        <p:nvGraphicFramePr>
          <p:cNvPr id="3" name="Table 2"/>
          <p:cNvGraphicFramePr>
            <a:graphicFrameLocks noGrp="1"/>
          </p:cNvGraphicFramePr>
          <p:nvPr/>
        </p:nvGraphicFramePr>
        <p:xfrm>
          <a:off x="640080" y="1325880"/>
          <a:ext cx="10972800" cy="5120640"/>
        </p:xfrm>
        <a:graphic>
          <a:graphicData uri="http://schemas.openxmlformats.org/drawingml/2006/table">
            <a:tbl>
              <a:tblPr firstRow="1" bandRow="1">
                <a:tableStyleId>{5C22544A-7EE6-4342-B048-85BDC9FD1C3A}</a:tableStyleId>
              </a:tblPr>
              <a:tblGrid>
                <a:gridCol w="3657600"/>
                <a:gridCol w="7315200"/>
              </a:tblGrid>
              <a:tr h="465512">
                <a:tc>
                  <a:txBody>
                    <a:bodyPr/>
                    <a:lstStyle/>
                    <a:p>
                      <a:pPr>
                        <a:defRPr b="1" sz="1500"/>
                      </a:pPr>
                      <a:r>
                        <a:t>Configuration</a:t>
                      </a:r>
                    </a:p>
                  </a:txBody>
                  <a:tcPr/>
                </a:tc>
                <a:tc>
                  <a:txBody>
                    <a:bodyPr/>
                    <a:lstStyle/>
                    <a:p>
                      <a:pPr>
                        <a:defRPr b="1" sz="1500"/>
                      </a:pPr>
                      <a:r>
                        <a:t>Implemented value</a:t>
                      </a:r>
                    </a:p>
                  </a:txBody>
                  <a:tcPr/>
                </a:tc>
              </a:tr>
              <a:tr h="465512">
                <a:tc>
                  <a:txBody>
                    <a:bodyPr/>
                    <a:lstStyle/>
                    <a:p>
                      <a:pPr>
                        <a:defRPr sz="1200"/>
                      </a:pPr>
                      <a:r>
                        <a:t>Subscription</a:t>
                      </a:r>
                    </a:p>
                  </a:txBody>
                  <a:tcPr/>
                </a:tc>
                <a:tc>
                  <a:txBody>
                    <a:bodyPr/>
                    <a:lstStyle/>
                    <a:p>
                      <a:pPr>
                        <a:defRPr sz="1200"/>
                      </a:pPr>
                      <a:r>
                        <a:t>Azure for Students</a:t>
                      </a:r>
                    </a:p>
                  </a:txBody>
                  <a:tcPr/>
                </a:tc>
              </a:tr>
              <a:tr h="465512">
                <a:tc>
                  <a:txBody>
                    <a:bodyPr/>
                    <a:lstStyle/>
                    <a:p>
                      <a:pPr>
                        <a:defRPr sz="1200"/>
                      </a:pPr>
                      <a:r>
                        <a:t>Resource group</a:t>
                      </a:r>
                    </a:p>
                  </a:txBody>
                  <a:tcPr/>
                </a:tc>
                <a:tc>
                  <a:txBody>
                    <a:bodyPr/>
                    <a:lstStyle/>
                    <a:p>
                      <a:pPr>
                        <a:defRPr sz="1200"/>
                      </a:pPr>
                      <a:r>
                        <a:t>RG-CostManagement</a:t>
                      </a:r>
                    </a:p>
                  </a:txBody>
                  <a:tcPr/>
                </a:tc>
              </a:tr>
              <a:tr h="465512">
                <a:tc>
                  <a:txBody>
                    <a:bodyPr/>
                    <a:lstStyle/>
                    <a:p>
                      <a:pPr>
                        <a:defRPr sz="1200"/>
                      </a:pPr>
                      <a:r>
                        <a:t>Storage account</a:t>
                      </a:r>
                    </a:p>
                  </a:txBody>
                  <a:tcPr/>
                </a:tc>
                <a:tc>
                  <a:txBody>
                    <a:bodyPr/>
                    <a:lstStyle/>
                    <a:p>
                      <a:pPr>
                        <a:defRPr sz="1200"/>
                      </a:pPr>
                      <a:r>
                        <a:t>costalertstorage001</a:t>
                      </a:r>
                    </a:p>
                  </a:txBody>
                  <a:tcPr/>
                </a:tc>
              </a:tr>
              <a:tr h="465512">
                <a:tc>
                  <a:txBody>
                    <a:bodyPr/>
                    <a:lstStyle/>
                    <a:p>
                      <a:pPr>
                        <a:defRPr sz="1200"/>
                      </a:pPr>
                      <a:r>
                        <a:t>Monthly budget</a:t>
                      </a:r>
                    </a:p>
                  </a:txBody>
                  <a:tcPr/>
                </a:tc>
                <a:tc>
                  <a:txBody>
                    <a:bodyPr/>
                    <a:lstStyle/>
                    <a:p>
                      <a:pPr>
                        <a:defRPr sz="1200"/>
                      </a:pPr>
                      <a:r>
                        <a:t>₹10</a:t>
                      </a:r>
                    </a:p>
                  </a:txBody>
                  <a:tcPr/>
                </a:tc>
              </a:tr>
              <a:tr h="465512">
                <a:tc>
                  <a:txBody>
                    <a:bodyPr/>
                    <a:lstStyle/>
                    <a:p>
                      <a:pPr>
                        <a:defRPr sz="1200"/>
                      </a:pPr>
                      <a:r>
                        <a:t>Warning threshold</a:t>
                      </a:r>
                    </a:p>
                  </a:txBody>
                  <a:tcPr/>
                </a:tc>
                <a:tc>
                  <a:txBody>
                    <a:bodyPr/>
                    <a:lstStyle/>
                    <a:p>
                      <a:pPr>
                        <a:defRPr sz="1200"/>
                      </a:pPr>
                      <a:r>
                        <a:t>80% / ₹8</a:t>
                      </a:r>
                    </a:p>
                  </a:txBody>
                  <a:tcPr/>
                </a:tc>
              </a:tr>
              <a:tr h="465512">
                <a:tc>
                  <a:txBody>
                    <a:bodyPr/>
                    <a:lstStyle/>
                    <a:p>
                      <a:pPr>
                        <a:defRPr sz="1200"/>
                      </a:pPr>
                      <a:r>
                        <a:t>Critical threshold</a:t>
                      </a:r>
                    </a:p>
                  </a:txBody>
                  <a:tcPr/>
                </a:tc>
                <a:tc>
                  <a:txBody>
                    <a:bodyPr/>
                    <a:lstStyle/>
                    <a:p>
                      <a:pPr>
                        <a:defRPr sz="1200"/>
                      </a:pPr>
                      <a:r>
                        <a:t>100% / ₹10</a:t>
                      </a:r>
                    </a:p>
                  </a:txBody>
                  <a:tcPr/>
                </a:tc>
              </a:tr>
              <a:tr h="465512">
                <a:tc>
                  <a:txBody>
                    <a:bodyPr/>
                    <a:lstStyle/>
                    <a:p>
                      <a:pPr>
                        <a:defRPr sz="1200"/>
                      </a:pPr>
                      <a:r>
                        <a:t>Cost Analysis view</a:t>
                      </a:r>
                    </a:p>
                  </a:txBody>
                  <a:tcPr/>
                </a:tc>
                <a:tc>
                  <a:txBody>
                    <a:bodyPr/>
                    <a:lstStyle/>
                    <a:p>
                      <a:pPr>
                        <a:defRPr sz="1200"/>
                      </a:pPr>
                      <a:r>
                        <a:t>Monthly Cost by Service</a:t>
                      </a:r>
                    </a:p>
                  </a:txBody>
                  <a:tcPr/>
                </a:tc>
              </a:tr>
              <a:tr h="465512">
                <a:tc>
                  <a:txBody>
                    <a:bodyPr/>
                    <a:lstStyle/>
                    <a:p>
                      <a:pPr>
                        <a:defRPr sz="1200"/>
                      </a:pPr>
                      <a:r>
                        <a:t>Anomaly rule</a:t>
                      </a:r>
                    </a:p>
                  </a:txBody>
                  <a:tcPr/>
                </a:tc>
                <a:tc>
                  <a:txBody>
                    <a:bodyPr/>
                    <a:lstStyle/>
                    <a:p>
                      <a:pPr>
                        <a:defRPr sz="1200"/>
                      </a:pPr>
                      <a:r>
                        <a:t>Daily anomaly by resource group — Active</a:t>
                      </a:r>
                    </a:p>
                  </a:txBody>
                  <a:tcPr/>
                </a:tc>
              </a:tr>
              <a:tr h="465512">
                <a:tc>
                  <a:txBody>
                    <a:bodyPr/>
                    <a:lstStyle/>
                    <a:p>
                      <a:pPr>
                        <a:defRPr sz="1200"/>
                      </a:pPr>
                      <a:r>
                        <a:t>Notifications</a:t>
                      </a:r>
                    </a:p>
                  </a:txBody>
                  <a:tcPr/>
                </a:tc>
                <a:tc>
                  <a:txBody>
                    <a:bodyPr/>
                    <a:lstStyle/>
                    <a:p>
                      <a:pPr>
                        <a:defRPr sz="1200"/>
                      </a:pPr>
                      <a:r>
                        <a:t>Email to configured recipients</a:t>
                      </a:r>
                    </a:p>
                  </a:txBody>
                  <a:tcPr/>
                </a:tc>
              </a:tr>
              <a:tr h="465520">
                <a:tc>
                  <a:txBody>
                    <a:bodyPr/>
                    <a:lstStyle/>
                    <a:p>
                      <a:pPr>
                        <a:defRPr sz="1200"/>
                      </a:pPr>
                      <a:r>
                        <a:t>Cost data status</a:t>
                      </a:r>
                    </a:p>
                  </a:txBody>
                  <a:tcPr/>
                </a:tc>
                <a:tc>
                  <a:txBody>
                    <a:bodyPr/>
                    <a:lstStyle/>
                    <a:p>
                      <a:pPr>
                        <a:defRPr sz="1200"/>
                      </a:pPr>
                      <a:r>
                        <a:t>No billable cost reported yet</a:t>
                      </a:r>
                    </a:p>
                  </a:txBody>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LIVE AZURE IMPLEMENTATION EVIDENCE</a:t>
            </a:r>
          </a:p>
        </p:txBody>
      </p:sp>
      <p:sp>
        <p:nvSpPr>
          <p:cNvPr id="3" name="Rounded Rectangle 2"/>
          <p:cNvSpPr/>
          <p:nvPr/>
        </p:nvSpPr>
        <p:spPr>
          <a:xfrm>
            <a:off x="594360" y="1371600"/>
            <a:ext cx="5303520" cy="187451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pPr>
            <a:r>
              <a:t>01  Resource + Tags</a:t>
            </a:r>
          </a:p>
          <a:p>
            <a:pPr>
              <a:defRPr sz="1300"/>
            </a:pPr>
            <a:r>
              <a:t>RG-CostManagement / costalertstorage001</a:t>
            </a:r>
            <a:br/>
            <a:r>
              <a:t>Department=IT • Project=CostManagement • Owner=Student</a:t>
            </a:r>
          </a:p>
        </p:txBody>
      </p:sp>
      <p:sp>
        <p:nvSpPr>
          <p:cNvPr id="4" name="Rounded Rectangle 3"/>
          <p:cNvSpPr/>
          <p:nvPr/>
        </p:nvSpPr>
        <p:spPr>
          <a:xfrm>
            <a:off x="6355080" y="1371600"/>
            <a:ext cx="5303520" cy="187451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pPr>
            <a:r>
              <a:t>02  Budget + Threshold Alerts</a:t>
            </a:r>
          </a:p>
          <a:p>
            <a:pPr>
              <a:defRPr sz="1300"/>
            </a:pPr>
            <a:r>
              <a:t>₹10 monthly • 80%=₹8 • 100%=₹10</a:t>
            </a:r>
            <a:br/>
            <a:r>
              <a:t>Email notifications configured</a:t>
            </a:r>
          </a:p>
        </p:txBody>
      </p:sp>
      <p:sp>
        <p:nvSpPr>
          <p:cNvPr id="5" name="Rounded Rectangle 4"/>
          <p:cNvSpPr/>
          <p:nvPr/>
        </p:nvSpPr>
        <p:spPr>
          <a:xfrm>
            <a:off x="594360" y="3703320"/>
            <a:ext cx="5303520" cy="187451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pPr>
            <a:r>
              <a:t>03  Cost Analysis</a:t>
            </a:r>
          </a:p>
          <a:p>
            <a:pPr>
              <a:defRPr sz="1300"/>
            </a:pPr>
            <a:r>
              <a:t>Monthly Cost by Service • September 2026</a:t>
            </a:r>
            <a:br/>
            <a:r>
              <a:t>No billable cost data reported yet</a:t>
            </a:r>
          </a:p>
        </p:txBody>
      </p:sp>
      <p:sp>
        <p:nvSpPr>
          <p:cNvPr id="6" name="Rounded Rectangle 5"/>
          <p:cNvSpPr/>
          <p:nvPr/>
        </p:nvSpPr>
        <p:spPr>
          <a:xfrm>
            <a:off x="6355080" y="3703320"/>
            <a:ext cx="5303520" cy="187451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pPr>
            <a:r>
              <a:t>04  Anomaly Detection</a:t>
            </a:r>
          </a:p>
          <a:p>
            <a:pPr>
              <a:defRPr sz="1300"/>
            </a:pPr>
            <a:r>
              <a:t>Daily anomaly by resource group</a:t>
            </a:r>
            <a:br/>
            <a:r>
              <a:t>Status: Active • Email notification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1174</Words>
  <Application>Microsoft Office PowerPoint</Application>
  <PresentationFormat>Widescreen</PresentationFormat>
  <Paragraphs>181</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Shaik Kalesha Vali</cp:lastModifiedBy>
  <cp:revision>2</cp:revision>
  <dcterms:created xsi:type="dcterms:W3CDTF">2013-01-27T09:14:16Z</dcterms:created>
  <dcterms:modified xsi:type="dcterms:W3CDTF">2026-09-26T16:31:05Z</dcterms:modified>
  <cp:category/>
</cp:coreProperties>
</file>